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IBM Plex Mono" panose="020B0509050203000203" pitchFamily="49" charset="0"/>
      <p:regular r:id="rId18"/>
    </p:embeddedFont>
    <p:embeddedFont>
      <p:font typeface="IBM Plex Mono Bold" panose="020B0604020202020204" charset="0"/>
      <p:regular r:id="rId19"/>
    </p:embeddedFont>
    <p:embeddedFont>
      <p:font typeface="Montserrat Bold" panose="020B0604020202020204" charset="0"/>
      <p:regular r:id="rId20"/>
    </p:embeddedFont>
    <p:embeddedFont>
      <p:font typeface="Open Sans" panose="020B0606030504020204" pitchFamily="3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003BA1-F4C6-4055-BE70-7F988FB5CE43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1D5A2-F8DF-4C1E-A024-8DE1E65A9F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2898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🟢 SLIDE 1 — TITLE</a:t>
            </a:r>
          </a:p>
          <a:p>
            <a:r>
              <a:rPr lang="en-IN" b="1" dirty="0"/>
              <a:t>Say:</a:t>
            </a:r>
            <a:endParaRPr lang="en-IN" dirty="0"/>
          </a:p>
          <a:p>
            <a:r>
              <a:rPr lang="en-IN" dirty="0"/>
              <a:t>“Good morning everyone. Our project is </a:t>
            </a:r>
            <a:r>
              <a:rPr lang="en-IN" b="1" dirty="0"/>
              <a:t>Interactive Process Management System</a:t>
            </a:r>
            <a:r>
              <a:rPr lang="en-IN" dirty="0"/>
              <a:t>, a terminal-based process controller developed for Linux.</a:t>
            </a:r>
          </a:p>
          <a:p>
            <a:r>
              <a:rPr lang="en-IN" dirty="0"/>
              <a:t>The main purpose of this project is to provide an interactive way to create, monitor, and control processes using operating-system concepts such as process creation, signals, pipes, I/O redirection, and multithreading.”</a:t>
            </a:r>
          </a:p>
          <a:p>
            <a:r>
              <a:rPr lang="en-IN" b="1" dirty="0"/>
              <a:t>Transition:</a:t>
            </a:r>
            <a:br>
              <a:rPr lang="en-IN" dirty="0"/>
            </a:br>
            <a:r>
              <a:rPr lang="en-IN" dirty="0"/>
              <a:t>“First, let me explain what our system actually does.”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B1D5A2-F8DF-4C1E-A024-8DE1E65A9FE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84620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🟢 SLIDE 2 — PROJECT OVERVIEW</a:t>
            </a:r>
          </a:p>
          <a:p>
            <a:r>
              <a:rPr lang="en-IN" b="1" dirty="0"/>
              <a:t>Say:</a:t>
            </a:r>
            <a:endParaRPr lang="en-IN" dirty="0"/>
          </a:p>
          <a:p>
            <a:r>
              <a:rPr lang="en-IN" dirty="0"/>
              <a:t>“Our system works through a terminal-based interface.</a:t>
            </a:r>
          </a:p>
          <a:p>
            <a:r>
              <a:rPr lang="en-IN" dirty="0"/>
              <a:t>A user can enter commands to execute processes, run them in the background, view process information, pause or resume processes, and terminate them.</a:t>
            </a:r>
          </a:p>
          <a:p>
            <a:r>
              <a:rPr lang="en-IN" dirty="0"/>
              <a:t>We also integrated IPC through pipes, input/output redirection, and a background monitoring thread.”</a:t>
            </a:r>
          </a:p>
          <a:p>
            <a:r>
              <a:rPr lang="en-IN" b="1" dirty="0"/>
              <a:t>Key words:</a:t>
            </a:r>
            <a:br>
              <a:rPr lang="en-IN" dirty="0"/>
            </a:b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Terminal → Process → Control → Monitor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B1D5A2-F8DF-4C1E-A024-8DE1E65A9FE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10217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🟢 SLIDE 3 — PROBLEM STATEMENT</a:t>
            </a:r>
          </a:p>
          <a:p>
            <a:r>
              <a:rPr lang="en-IN" b="1" dirty="0"/>
              <a:t>Say:</a:t>
            </a:r>
            <a:endParaRPr lang="en-IN" dirty="0"/>
          </a:p>
          <a:p>
            <a:r>
              <a:rPr lang="en-IN" dirty="0"/>
              <a:t>“Managing processes directly in Linux can require multiple commands and a good understanding of operating-system concepts.</a:t>
            </a:r>
          </a:p>
          <a:p>
            <a:r>
              <a:rPr lang="en-IN" dirty="0"/>
              <a:t>Our project brings important process-management operations into one interactive controller.</a:t>
            </a:r>
          </a:p>
          <a:p>
            <a:r>
              <a:rPr lang="en-IN" dirty="0"/>
              <a:t>This also helps us understand what actually happens behind commands — including process creation, signals, file descriptors, IPC, and threads.”</a:t>
            </a:r>
          </a:p>
          <a:p>
            <a:r>
              <a:rPr lang="en-IN" b="1" dirty="0"/>
              <a:t>Emphasize:</a:t>
            </a:r>
            <a:br>
              <a:rPr lang="en-IN" dirty="0"/>
            </a:br>
            <a:r>
              <a:rPr lang="en-IN" dirty="0"/>
              <a:t>“It's not just a command interface; it demonstrates the underlying OS concepts.”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B1D5A2-F8DF-4C1E-A024-8DE1E65A9FE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4295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🟢 SLIDE 4 — OBJECTIVES</a:t>
            </a:r>
          </a:p>
          <a:p>
            <a:r>
              <a:rPr lang="en-IN" b="1" dirty="0"/>
              <a:t>Say:</a:t>
            </a:r>
            <a:endParaRPr lang="en-IN" dirty="0"/>
          </a:p>
          <a:p>
            <a:r>
              <a:rPr lang="en-IN" dirty="0"/>
              <a:t>“The main objectives are to execute and control processes, support foreground and background execution, handle process signals, implement pipes and I/O redirection, and introduce multithreading.</a:t>
            </a:r>
          </a:p>
          <a:p>
            <a:r>
              <a:rPr lang="en-IN" dirty="0"/>
              <a:t>Another objective was to make the system modular so that different OS concepts could be implemented as separate components.”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B1D5A2-F8DF-4C1E-A024-8DE1E65A9FE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0682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🟢 SLIDE 5 — SYSTEM ARCHITECTURE</a:t>
            </a:r>
          </a:p>
          <a:p>
            <a:r>
              <a:rPr lang="en-IN" b="1" dirty="0"/>
              <a:t>Say:</a:t>
            </a:r>
            <a:endParaRPr lang="en-IN" dirty="0"/>
          </a:p>
          <a:p>
            <a:r>
              <a:rPr lang="en-IN" dirty="0"/>
              <a:t>“This is the overall architecture of our system.</a:t>
            </a:r>
          </a:p>
          <a:p>
            <a:r>
              <a:rPr lang="en-IN" dirty="0"/>
              <a:t>The user enters a command through the terminal. The input is parsed and then routed to the appropriate process-management functionality.</a:t>
            </a:r>
          </a:p>
          <a:p>
            <a:r>
              <a:rPr lang="en-IN" dirty="0"/>
              <a:t>The process module handles execution and control, the signal module handles process signals, pipes provide IPC, redirection handles file descriptors, and the thread module provides background monitoring.”</a:t>
            </a:r>
          </a:p>
          <a:p>
            <a:r>
              <a:rPr lang="en-IN" b="1" dirty="0"/>
              <a:t>Point to diagram while speaking.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B1D5A2-F8DF-4C1E-A024-8DE1E65A9FE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86573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🟢 SLIDE 6 — PROCESS CREATION &amp; EXECUTION</a:t>
            </a:r>
          </a:p>
          <a:p>
            <a:r>
              <a:rPr lang="en-IN" b="1" dirty="0"/>
              <a:t>Say:</a:t>
            </a:r>
            <a:endParaRPr lang="en-IN" dirty="0"/>
          </a:p>
          <a:p>
            <a:r>
              <a:rPr lang="en-IN" dirty="0"/>
              <a:t>“This is one of the core operating-system concepts implemented in our project.</a:t>
            </a:r>
          </a:p>
          <a:p>
            <a:r>
              <a:rPr lang="en-IN" dirty="0"/>
              <a:t>When a process needs to be executed, the system uses 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fork()</a:t>
            </a:r>
            <a:r>
              <a:rPr lang="en-IN" dirty="0"/>
              <a:t> to create a child process.</a:t>
            </a:r>
          </a:p>
          <a:p>
            <a:r>
              <a:rPr lang="en-IN" dirty="0"/>
              <a:t>The child can then use </a:t>
            </a:r>
            <a:r>
              <a:rPr lang="en-I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execvp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IN" dirty="0"/>
              <a:t> to replace its process image with the requested program.</a:t>
            </a:r>
          </a:p>
          <a:p>
            <a:r>
              <a:rPr lang="en-IN" dirty="0"/>
              <a:t>For foreground execution, the parent can wait for the child using 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wait()</a:t>
            </a:r>
            <a:r>
              <a:rPr lang="en-IN" dirty="0"/>
              <a:t> or </a:t>
            </a:r>
            <a:r>
              <a:rPr lang="en-I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waitpid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IN" dirty="0"/>
              <a:t>.”</a:t>
            </a:r>
          </a:p>
          <a:p>
            <a:r>
              <a:rPr lang="en-IN" b="1" dirty="0"/>
              <a:t>Remember:</a:t>
            </a:r>
            <a:br>
              <a:rPr lang="en-IN" dirty="0"/>
            </a:b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 → child → </a:t>
            </a:r>
            <a:r>
              <a:rPr lang="en-I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execvp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→ wait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B1D5A2-F8DF-4C1E-A024-8DE1E65A9FE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7131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🟢 SLIDE 7 — INTERACTIVE PROCESS CONTROL</a:t>
            </a:r>
          </a:p>
          <a:p>
            <a:r>
              <a:rPr lang="en-IN" b="1" dirty="0"/>
              <a:t>Say:</a:t>
            </a:r>
            <a:endParaRPr lang="en-IN" dirty="0"/>
          </a:p>
          <a:p>
            <a:r>
              <a:rPr lang="en-IN" dirty="0"/>
              <a:t>“Our controller supports different process-management operations.</a:t>
            </a:r>
          </a:p>
          <a:p>
            <a:r>
              <a:rPr lang="en-IN" dirty="0"/>
              <a:t>For example, we can run a process normally or in the background using 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RUNBG</a:t>
            </a:r>
            <a:r>
              <a:rPr lang="en-IN" dirty="0"/>
              <a:t>.</a:t>
            </a:r>
          </a:p>
          <a:p>
            <a:r>
              <a:rPr lang="en-IN" dirty="0"/>
              <a:t>We can also obtain process information and control processes using commands such as pause, resume, terminate, and kill.</a:t>
            </a:r>
          </a:p>
          <a:p>
            <a:r>
              <a:rPr lang="en-IN" dirty="0"/>
              <a:t>This gives the user direct interactive control over running processes.”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B1D5A2-F8DF-4C1E-A024-8DE1E65A9FE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32237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🟢 SLIDE 8 — SIGNAL HANDLING</a:t>
            </a:r>
          </a:p>
          <a:p>
            <a:r>
              <a:rPr lang="en-IN" b="1" dirty="0"/>
              <a:t>Say:</a:t>
            </a:r>
            <a:endParaRPr lang="en-IN" dirty="0"/>
          </a:p>
          <a:p>
            <a:r>
              <a:rPr lang="en-IN" dirty="0"/>
              <a:t>“Signals are the mechanism we use to communicate control events to processes.</a:t>
            </a:r>
          </a:p>
          <a:p>
            <a:r>
              <a:rPr lang="en-IN" dirty="0"/>
              <a:t>Our project works with signals such as 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SIGINT</a:t>
            </a:r>
            <a:r>
              <a:rPr lang="en-IN" dirty="0"/>
              <a:t>, 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SIGTERM</a:t>
            </a:r>
            <a:r>
              <a:rPr lang="en-IN" dirty="0"/>
              <a:t>, 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SIGKILL</a:t>
            </a:r>
            <a:r>
              <a:rPr lang="en-IN" dirty="0"/>
              <a:t>, 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SIGSTOP</a:t>
            </a:r>
            <a:r>
              <a:rPr lang="en-IN" dirty="0"/>
              <a:t>, and 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SIGCONT</a:t>
            </a:r>
            <a:r>
              <a:rPr lang="en-IN" dirty="0"/>
              <a:t>.</a:t>
            </a:r>
          </a:p>
          <a:p>
            <a:r>
              <a:rPr lang="en-IN" dirty="0"/>
              <a:t>For example, 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SIGSTOP</a:t>
            </a:r>
            <a:r>
              <a:rPr lang="en-IN" dirty="0"/>
              <a:t> can stop a process and 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SIGCONT</a:t>
            </a:r>
            <a:r>
              <a:rPr lang="en-IN" dirty="0"/>
              <a:t> can resume it.</a:t>
            </a:r>
          </a:p>
          <a:p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SIGCHLD</a:t>
            </a:r>
            <a:r>
              <a:rPr lang="en-IN" dirty="0"/>
              <a:t> can also be used to indicate that a child process has changed state.”</a:t>
            </a:r>
          </a:p>
          <a:p>
            <a:r>
              <a:rPr lang="en-IN" b="1" dirty="0"/>
              <a:t>Strong line:</a:t>
            </a:r>
            <a:br>
              <a:rPr lang="en-IN" dirty="0"/>
            </a:br>
            <a:r>
              <a:rPr lang="en-IN" dirty="0"/>
              <a:t>“So signals provide the control mechanism between our process manager and the processes.”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B1D5A2-F8DF-4C1E-A024-8DE1E65A9FE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57828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🟢 SLIDE 9 — IPC USING PIPES</a:t>
            </a:r>
          </a:p>
          <a:p>
            <a:r>
              <a:rPr lang="en-IN" b="1" dirty="0"/>
              <a:t>Say:</a:t>
            </a:r>
            <a:endParaRPr lang="en-IN" dirty="0"/>
          </a:p>
          <a:p>
            <a:r>
              <a:rPr lang="en-IN" dirty="0"/>
              <a:t>“Another important feature is inter-process communication using pipes.</a:t>
            </a:r>
          </a:p>
          <a:p>
            <a:r>
              <a:rPr lang="en-IN" dirty="0"/>
              <a:t>A pipe allows the output of one process to become the input of another.</a:t>
            </a:r>
          </a:p>
          <a:p>
            <a:r>
              <a:rPr lang="en-IN" dirty="0"/>
              <a:t>For example:</a:t>
            </a:r>
          </a:p>
          <a:p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ls | grep </a:t>
            </a:r>
            <a:r>
              <a:rPr lang="en-I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src</a:t>
            </a:r>
            <a:endParaRPr lang="en-IN" dirty="0"/>
          </a:p>
          <a:p>
            <a:r>
              <a:rPr lang="en-IN" dirty="0"/>
              <a:t>Here, the output from 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ls</a:t>
            </a:r>
            <a:r>
              <a:rPr lang="en-IN" dirty="0"/>
              <a:t> is passed through the pipe to 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grep</a:t>
            </a:r>
            <a:r>
              <a:rPr lang="en-IN" dirty="0"/>
              <a:t>.</a:t>
            </a:r>
          </a:p>
          <a:p>
            <a:r>
              <a:rPr lang="en-IN" dirty="0"/>
              <a:t>This demonstrates how multiple processes can communicate and work together.”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B1D5A2-F8DF-4C1E-A024-8DE1E65A9FE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95974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🟢 SLIDE 10 — I/O REDIRECTION</a:t>
            </a:r>
          </a:p>
          <a:p>
            <a:r>
              <a:rPr lang="en-IN" b="1" dirty="0"/>
              <a:t>Say:</a:t>
            </a:r>
            <a:endParaRPr lang="en-IN" dirty="0"/>
          </a:p>
          <a:p>
            <a:r>
              <a:rPr lang="en-IN" dirty="0"/>
              <a:t>“We also implemented input and output redirection.</a:t>
            </a:r>
          </a:p>
          <a:p>
            <a:r>
              <a:rPr lang="en-IN" dirty="0"/>
              <a:t>The system supports 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en-IN" dirty="0"/>
              <a:t> for overwriting output, 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&gt;&gt;</a:t>
            </a:r>
            <a:r>
              <a:rPr lang="en-IN" dirty="0"/>
              <a:t> for appending output, 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IN" dirty="0"/>
              <a:t> for input redirection, and 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2&gt;</a:t>
            </a:r>
            <a:r>
              <a:rPr lang="en-IN" dirty="0"/>
              <a:t> for redirecting standard error.</a:t>
            </a:r>
          </a:p>
          <a:p>
            <a:r>
              <a:rPr lang="en-IN" dirty="0"/>
              <a:t>Internally, this is implemented using system calls such as 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open()</a:t>
            </a:r>
            <a:r>
              <a:rPr lang="en-IN" dirty="0"/>
              <a:t>, 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dup2()</a:t>
            </a:r>
            <a:r>
              <a:rPr lang="en-IN" dirty="0"/>
              <a:t>, and 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close()</a:t>
            </a:r>
            <a:r>
              <a:rPr lang="en-IN" dirty="0"/>
              <a:t>.</a:t>
            </a:r>
          </a:p>
          <a:p>
            <a:r>
              <a:rPr lang="en-IN" dirty="0"/>
              <a:t>So instead of displaying output directly on the terminal, a process can write to a file.”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B1D5A2-F8DF-4C1E-A024-8DE1E65A9FE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10872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🟢 SLIDE 11 — POSIX MULTITHREADING</a:t>
            </a:r>
          </a:p>
          <a:p>
            <a:r>
              <a:rPr lang="en-IN" b="1" dirty="0"/>
              <a:t>Say:</a:t>
            </a:r>
            <a:endParaRPr lang="en-IN" dirty="0"/>
          </a:p>
          <a:p>
            <a:r>
              <a:rPr lang="en-IN" dirty="0"/>
              <a:t>“To make the process manager more responsive, we added POSIX multithreading.</a:t>
            </a:r>
          </a:p>
          <a:p>
            <a:r>
              <a:rPr lang="en-IN" dirty="0"/>
              <a:t>A background monitor thread runs independently while the main thread continues accepting user commands.</a:t>
            </a:r>
          </a:p>
          <a:p>
            <a:r>
              <a:rPr lang="en-IN" dirty="0"/>
              <a:t>We use </a:t>
            </a:r>
            <a:r>
              <a:rPr lang="en-I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pthread_create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IN" dirty="0"/>
              <a:t> to create the monitoring thread and a mutex to synchronize access to shared monitoring resources.</a:t>
            </a:r>
          </a:p>
          <a:p>
            <a:r>
              <a:rPr lang="en-IN" dirty="0"/>
              <a:t>This demonstrates how threads can perform background work without blocking the main interface.”</a:t>
            </a:r>
          </a:p>
          <a:p>
            <a:r>
              <a:rPr lang="en-IN" b="1" dirty="0"/>
              <a:t>Key phrase:</a:t>
            </a:r>
            <a:br>
              <a:rPr lang="en-IN" dirty="0"/>
            </a:br>
            <a:r>
              <a:rPr lang="en-IN" dirty="0"/>
              <a:t>“Main thread handles interaction; monitor thread handles background monitoring.”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B1D5A2-F8DF-4C1E-A024-8DE1E65A9FE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92869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🟢 SLIDE 12 — NOVELTY &amp; ADAPTABILITY</a:t>
            </a:r>
          </a:p>
          <a:p>
            <a:r>
              <a:rPr lang="en-IN" b="1" dirty="0"/>
              <a:t>Say:</a:t>
            </a:r>
            <a:endParaRPr lang="en-IN" dirty="0"/>
          </a:p>
          <a:p>
            <a:r>
              <a:rPr lang="en-IN" dirty="0"/>
              <a:t>“The main strength of our project is that multiple operating-system concepts are integrated into one modular process controller.</a:t>
            </a:r>
          </a:p>
          <a:p>
            <a:r>
              <a:rPr lang="en-IN" dirty="0"/>
              <a:t>The architecture can also be extended.</a:t>
            </a:r>
          </a:p>
          <a:p>
            <a:r>
              <a:rPr lang="en-IN" dirty="0"/>
              <a:t>For example, future versions could include CPU and memory statistics, process trees, scheduling visualization, configuration support, or a richer terminal interface.</a:t>
            </a:r>
          </a:p>
          <a:p>
            <a:r>
              <a:rPr lang="en-IN" dirty="0"/>
              <a:t>Because the modules are separated, these features can be added without redesigning the entire system.”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B1D5A2-F8DF-4C1E-A024-8DE1E65A9FEF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74367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”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🟢 SLIDE 13 — METHODOLOGY EVALUATION &amp; TESTING</a:t>
            </a:r>
          </a:p>
          <a:p>
            <a:r>
              <a:rPr lang="en-IN" b="1" dirty="0"/>
              <a:t>Say:</a:t>
            </a:r>
            <a:endParaRPr lang="en-IN" dirty="0"/>
          </a:p>
          <a:p>
            <a:r>
              <a:rPr lang="en-IN" dirty="0"/>
              <a:t>“We tested the major components individually and as part of the complete system.</a:t>
            </a:r>
          </a:p>
          <a:p>
            <a:r>
              <a:rPr lang="en-IN" dirty="0"/>
              <a:t>We verified command parsing, process execution, process control, pipes, and I/O redirection.</a:t>
            </a:r>
          </a:p>
          <a:p>
            <a:r>
              <a:rPr lang="en-IN" dirty="0"/>
              <a:t>We also used </a:t>
            </a:r>
            <a:r>
              <a:rPr lang="en-IN" dirty="0" err="1"/>
              <a:t>Valgrind</a:t>
            </a:r>
            <a:r>
              <a:rPr lang="en-IN" dirty="0"/>
              <a:t> for memory checking.</a:t>
            </a:r>
          </a:p>
          <a:p>
            <a:r>
              <a:rPr lang="en-IN" dirty="0"/>
              <a:t>The </a:t>
            </a:r>
            <a:r>
              <a:rPr lang="en-IN" dirty="0" err="1"/>
              <a:t>Valgrind</a:t>
            </a:r>
            <a:r>
              <a:rPr lang="en-IN" dirty="0"/>
              <a:t> result showed </a:t>
            </a:r>
            <a:r>
              <a:rPr lang="en-IN" b="1" dirty="0"/>
              <a:t>zero errors and zero bytes still in use at exit</a:t>
            </a:r>
            <a:r>
              <a:rPr lang="en-IN" dirty="0"/>
              <a:t>, which helped verify that the tested execution path did not have memory leaks.”</a:t>
            </a:r>
          </a:p>
          <a:p>
            <a:r>
              <a:rPr lang="en-IN" b="1" dirty="0"/>
              <a:t>Pause here — this is a good evaluation point.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B1D5A2-F8DF-4C1E-A024-8DE1E65A9FEF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0796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🟢 SLIDE 14 — PROJECT STRUCTURE &amp; ACCESSIBILITY</a:t>
            </a:r>
          </a:p>
          <a:p>
            <a:r>
              <a:rPr lang="en-IN" b="1" dirty="0"/>
              <a:t>Say:</a:t>
            </a:r>
            <a:endParaRPr lang="en-IN" dirty="0"/>
          </a:p>
          <a:p>
            <a:r>
              <a:rPr lang="en-IN" dirty="0"/>
              <a:t>“The project follows a modular source structure.</a:t>
            </a:r>
          </a:p>
          <a:p>
            <a:r>
              <a:rPr lang="en-IN" dirty="0"/>
              <a:t>Different functionality is separated into modules such as process management, parsing, signals, pipes, redirection, monitoring, and threading.</a:t>
            </a:r>
          </a:p>
          <a:p>
            <a:r>
              <a:rPr lang="en-IN" dirty="0"/>
              <a:t>This makes the code easier to understand, test, maintain, and extend.</a:t>
            </a:r>
          </a:p>
          <a:p>
            <a:r>
              <a:rPr lang="en-IN" dirty="0"/>
              <a:t>The project is also maintained using Git and GitHub, which supports version control and accessibility of the source code.”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B1D5A2-F8DF-4C1E-A024-8DE1E65A9FEF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23211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🟢 SLIDE 15 — CONCLUSION &amp; FUTURE SCOPE</a:t>
            </a:r>
          </a:p>
          <a:p>
            <a:r>
              <a:rPr lang="en-IN" b="1" dirty="0"/>
              <a:t>Say:</a:t>
            </a:r>
            <a:endParaRPr lang="en-IN" dirty="0"/>
          </a:p>
          <a:p>
            <a:r>
              <a:rPr lang="en-IN" dirty="0"/>
              <a:t>“To conclude, our Interactive Process Management System demonstrates several important Linux operating-system concepts in one practical project.</a:t>
            </a:r>
          </a:p>
          <a:p>
            <a:r>
              <a:rPr lang="en-IN" dirty="0"/>
              <a:t>We implemented process creation and control, signals, pipes, I/O redirection, and POSIX multithreading with synchronization.</a:t>
            </a:r>
          </a:p>
          <a:p>
            <a:r>
              <a:rPr lang="en-IN" dirty="0"/>
              <a:t>The project also gave us practical experience with system calls, process states, IPC, threads, debugging, and memory testing.</a:t>
            </a:r>
          </a:p>
          <a:p>
            <a:r>
              <a:rPr lang="en-IN" dirty="0"/>
              <a:t>In the future, the system can be extended with resource monitoring, process trees, scheduling visualization, and additional process-management features.</a:t>
            </a:r>
          </a:p>
          <a:p>
            <a:r>
              <a:rPr lang="en-IN" dirty="0"/>
              <a:t>Thank you.”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B1D5A2-F8DF-4C1E-A024-8DE1E65A9FEF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762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858500" y="1571625"/>
            <a:ext cx="142875" cy="142875"/>
            <a:chOff x="0" y="0"/>
            <a:chExt cx="190500" cy="190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0"/>
                  </a:moveTo>
                  <a:cubicBezTo>
                    <a:pt x="147855" y="0"/>
                    <a:pt x="190500" y="42645"/>
                    <a:pt x="190500" y="95250"/>
                  </a:cubicBezTo>
                  <a:cubicBezTo>
                    <a:pt x="190500" y="147855"/>
                    <a:pt x="147855" y="190500"/>
                    <a:pt x="95250" y="190500"/>
                  </a:cubicBezTo>
                  <a:cubicBezTo>
                    <a:pt x="42645" y="190500"/>
                    <a:pt x="0" y="147855"/>
                    <a:pt x="0" y="95250"/>
                  </a:cubicBez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6B7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1182350" y="1571625"/>
            <a:ext cx="142875" cy="142875"/>
            <a:chOff x="0" y="0"/>
            <a:chExt cx="190500" cy="1905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0"/>
                  </a:moveTo>
                  <a:cubicBezTo>
                    <a:pt x="147855" y="0"/>
                    <a:pt x="190500" y="42645"/>
                    <a:pt x="190500" y="95250"/>
                  </a:cubicBezTo>
                  <a:cubicBezTo>
                    <a:pt x="190500" y="147855"/>
                    <a:pt x="147855" y="190500"/>
                    <a:pt x="95250" y="190500"/>
                  </a:cubicBezTo>
                  <a:cubicBezTo>
                    <a:pt x="42645" y="190500"/>
                    <a:pt x="0" y="147855"/>
                    <a:pt x="0" y="95250"/>
                  </a:cubicBez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CB6B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11506200" y="1571625"/>
            <a:ext cx="142875" cy="142875"/>
            <a:chOff x="0" y="0"/>
            <a:chExt cx="190500" cy="1905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0"/>
                  </a:moveTo>
                  <a:cubicBezTo>
                    <a:pt x="147855" y="0"/>
                    <a:pt x="190500" y="42645"/>
                    <a:pt x="190500" y="95250"/>
                  </a:cubicBezTo>
                  <a:cubicBezTo>
                    <a:pt x="190500" y="147855"/>
                    <a:pt x="147855" y="190500"/>
                    <a:pt x="95250" y="190500"/>
                  </a:cubicBezTo>
                  <a:cubicBezTo>
                    <a:pt x="42645" y="190500"/>
                    <a:pt x="0" y="147855"/>
                    <a:pt x="0" y="95250"/>
                  </a:cubicBez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57E389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0572750" y="1381125"/>
            <a:ext cx="6762750" cy="6858000"/>
            <a:chOff x="0" y="0"/>
            <a:chExt cx="9017000" cy="9144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017000" cy="9144000"/>
            </a:xfrm>
            <a:custGeom>
              <a:avLst/>
              <a:gdLst/>
              <a:ahLst/>
              <a:cxnLst/>
              <a:rect l="l" t="t" r="r" b="b"/>
              <a:pathLst>
                <a:path w="9017000" h="9144000">
                  <a:moveTo>
                    <a:pt x="0" y="0"/>
                  </a:moveTo>
                  <a:lnTo>
                    <a:pt x="9017000" y="0"/>
                  </a:lnTo>
                  <a:lnTo>
                    <a:pt x="9017000" y="9144000"/>
                  </a:lnTo>
                  <a:lnTo>
                    <a:pt x="0" y="9144000"/>
                  </a:lnTo>
                  <a:close/>
                </a:path>
              </a:pathLst>
            </a:custGeom>
            <a:solidFill>
              <a:srgbClr val="05080B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9017000" cy="918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572750" y="1381125"/>
            <a:ext cx="6762750" cy="552450"/>
            <a:chOff x="0" y="0"/>
            <a:chExt cx="9017000" cy="7366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017000" cy="736600"/>
            </a:xfrm>
            <a:custGeom>
              <a:avLst/>
              <a:gdLst/>
              <a:ahLst/>
              <a:cxnLst/>
              <a:rect l="l" t="t" r="r" b="b"/>
              <a:pathLst>
                <a:path w="9017000" h="736600">
                  <a:moveTo>
                    <a:pt x="0" y="0"/>
                  </a:moveTo>
                  <a:lnTo>
                    <a:pt x="9017000" y="0"/>
                  </a:lnTo>
                  <a:lnTo>
                    <a:pt x="9017000" y="736600"/>
                  </a:lnTo>
                  <a:lnTo>
                    <a:pt x="0" y="736600"/>
                  </a:lnTo>
                  <a:close/>
                </a:path>
              </a:pathLst>
            </a:custGeom>
            <a:solidFill>
              <a:srgbClr val="1B2632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90170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14400" y="847725"/>
            <a:ext cx="7239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20">
                <a:solidFill>
                  <a:srgbClr val="43C6E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B.TECH ACADEMIC PROJECT REVIEW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4400" y="2095500"/>
            <a:ext cx="9144000" cy="1721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93"/>
              </a:lnSpc>
            </a:pPr>
            <a:r>
              <a:rPr lang="en-US" sz="6375" b="1">
                <a:solidFill>
                  <a:srgbClr val="F4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Interactive Process</a:t>
            </a:r>
          </a:p>
          <a:p>
            <a:pPr algn="l">
              <a:lnSpc>
                <a:spcPts val="6693"/>
              </a:lnSpc>
            </a:pPr>
            <a:r>
              <a:rPr lang="en-US" sz="6375" b="1">
                <a:solidFill>
                  <a:srgbClr val="F4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Management System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14400" y="4448175"/>
            <a:ext cx="7810500" cy="392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400">
                <a:solidFill>
                  <a:srgbClr val="F4F7FA"/>
                </a:solidFill>
                <a:latin typeface="Open Sans"/>
                <a:ea typeface="Open Sans"/>
                <a:cs typeface="Open Sans"/>
                <a:sym typeface="Open Sans"/>
              </a:rPr>
              <a:t>A Terminal-Based Process Controller for Linux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4400" y="8258175"/>
            <a:ext cx="857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9BACB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OPERATING SYSTEMS  ·  C PROGRAMMING  ·  POSIX  ·  LINUX / UBUNTU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14400" y="8829675"/>
            <a:ext cx="7620000" cy="273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43C6E8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PROCESS  /  CONTROL  /  OBSERVE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382500" y="1524000"/>
            <a:ext cx="342900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9BACBA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process-manager — bash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049000" y="2438400"/>
            <a:ext cx="5715000" cy="2742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57E389"/>
                </a:solidFill>
                <a:latin typeface="IBM Plex Mono"/>
                <a:ea typeface="IBM Plex Mono"/>
                <a:cs typeface="IBM Plex Mono"/>
                <a:sym typeface="IBM Plex Mono"/>
              </a:rPr>
              <a:t>$ ./process_manager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57E389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process-manager&gt; help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57E389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process-manager&gt; run sleep 10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57E389"/>
                </a:solidFill>
                <a:latin typeface="IBM Plex Mono"/>
                <a:ea typeface="IBM Plex Mono"/>
                <a:cs typeface="IBM Plex Mono"/>
                <a:sym typeface="IBM Plex Mono"/>
              </a:rPr>
              <a:t>[1] started  pid=4281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57E389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process-manager&gt; info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57E389"/>
                </a:solidFill>
                <a:latin typeface="IBM Plex Mono"/>
                <a:ea typeface="IBM Plex Mono"/>
                <a:cs typeface="IBM Plex Mono"/>
                <a:sym typeface="IBM Plex Mono"/>
              </a:rPr>
              <a:t>PID 4281  RUNNING  sleep 10</a:t>
            </a:r>
          </a:p>
          <a:p>
            <a:pPr algn="l">
              <a:lnSpc>
                <a:spcPts val="2733"/>
              </a:lnSpc>
            </a:pPr>
            <a:endParaRPr lang="en-US" sz="2025">
              <a:solidFill>
                <a:srgbClr val="57E389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57E389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process-manager&gt; 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23875"/>
            <a:ext cx="857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43C6E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SYSTEMS PROGRAMMING  /  02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038225"/>
            <a:ext cx="14287500" cy="587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1">
                <a:solidFill>
                  <a:srgbClr val="F4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Overview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1809750"/>
            <a:ext cx="16459200" cy="19050"/>
            <a:chOff x="0" y="0"/>
            <a:chExt cx="21945600" cy="25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5400"/>
            </a:xfrm>
            <a:custGeom>
              <a:avLst/>
              <a:gdLst/>
              <a:ahLst/>
              <a:cxnLst/>
              <a:rect l="l" t="t" r="r" b="b"/>
              <a:pathLst>
                <a:path w="21945600" h="254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B3A47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43000" y="2857500"/>
            <a:ext cx="2476500" cy="1047750"/>
            <a:chOff x="0" y="0"/>
            <a:chExt cx="3302000" cy="1397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302000" cy="1397000"/>
            </a:xfrm>
            <a:custGeom>
              <a:avLst/>
              <a:gdLst/>
              <a:ahLst/>
              <a:cxnLst/>
              <a:rect l="l" t="t" r="r" b="b"/>
              <a:pathLst>
                <a:path w="3302000" h="1397000">
                  <a:moveTo>
                    <a:pt x="68385" y="0"/>
                  </a:moveTo>
                  <a:lnTo>
                    <a:pt x="3233615" y="0"/>
                  </a:lnTo>
                  <a:cubicBezTo>
                    <a:pt x="3251752" y="0"/>
                    <a:pt x="3269146" y="7205"/>
                    <a:pt x="3281971" y="20029"/>
                  </a:cubicBezTo>
                  <a:cubicBezTo>
                    <a:pt x="3294795" y="32854"/>
                    <a:pt x="3302000" y="50248"/>
                    <a:pt x="3302000" y="68385"/>
                  </a:cubicBezTo>
                  <a:lnTo>
                    <a:pt x="3302000" y="1328615"/>
                  </a:lnTo>
                  <a:cubicBezTo>
                    <a:pt x="3302000" y="1346752"/>
                    <a:pt x="3294795" y="1364146"/>
                    <a:pt x="3281971" y="1376971"/>
                  </a:cubicBezTo>
                  <a:cubicBezTo>
                    <a:pt x="3269146" y="1389795"/>
                    <a:pt x="3251752" y="1397000"/>
                    <a:pt x="3233615" y="1397000"/>
                  </a:cubicBezTo>
                  <a:lnTo>
                    <a:pt x="68385" y="1397000"/>
                  </a:lnTo>
                  <a:cubicBezTo>
                    <a:pt x="50248" y="1397000"/>
                    <a:pt x="32854" y="1389795"/>
                    <a:pt x="20029" y="1376971"/>
                  </a:cubicBezTo>
                  <a:cubicBezTo>
                    <a:pt x="7205" y="1364146"/>
                    <a:pt x="0" y="1346752"/>
                    <a:pt x="0" y="1328615"/>
                  </a:cubicBezTo>
                  <a:lnTo>
                    <a:pt x="0" y="68385"/>
                  </a:lnTo>
                  <a:cubicBezTo>
                    <a:pt x="0" y="50248"/>
                    <a:pt x="7205" y="32854"/>
                    <a:pt x="20029" y="20029"/>
                  </a:cubicBezTo>
                  <a:cubicBezTo>
                    <a:pt x="32854" y="7205"/>
                    <a:pt x="50248" y="0"/>
                    <a:pt x="68385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43C6E8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19050"/>
              <a:ext cx="3302000" cy="1377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USER</a:t>
              </a:r>
            </a:p>
          </p:txBody>
        </p:sp>
      </p:grpSp>
      <p:sp>
        <p:nvSpPr>
          <p:cNvPr id="10" name="AutoShape 10"/>
          <p:cNvSpPr/>
          <p:nvPr/>
        </p:nvSpPr>
        <p:spPr>
          <a:xfrm>
            <a:off x="3619500" y="3381375"/>
            <a:ext cx="476250" cy="0"/>
          </a:xfrm>
          <a:prstGeom prst="line">
            <a:avLst/>
          </a:prstGeom>
          <a:ln w="28575" cap="rnd">
            <a:solidFill>
              <a:srgbClr val="43C6E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1" name="Group 11"/>
          <p:cNvGrpSpPr/>
          <p:nvPr/>
        </p:nvGrpSpPr>
        <p:grpSpPr>
          <a:xfrm>
            <a:off x="4333875" y="2857500"/>
            <a:ext cx="2476500" cy="1047750"/>
            <a:chOff x="0" y="0"/>
            <a:chExt cx="3302000" cy="1397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302000" cy="1397000"/>
            </a:xfrm>
            <a:custGeom>
              <a:avLst/>
              <a:gdLst/>
              <a:ahLst/>
              <a:cxnLst/>
              <a:rect l="l" t="t" r="r" b="b"/>
              <a:pathLst>
                <a:path w="3302000" h="1397000">
                  <a:moveTo>
                    <a:pt x="68385" y="0"/>
                  </a:moveTo>
                  <a:lnTo>
                    <a:pt x="3233615" y="0"/>
                  </a:lnTo>
                  <a:cubicBezTo>
                    <a:pt x="3251752" y="0"/>
                    <a:pt x="3269146" y="7205"/>
                    <a:pt x="3281971" y="20029"/>
                  </a:cubicBezTo>
                  <a:cubicBezTo>
                    <a:pt x="3294795" y="32854"/>
                    <a:pt x="3302000" y="50248"/>
                    <a:pt x="3302000" y="68385"/>
                  </a:cubicBezTo>
                  <a:lnTo>
                    <a:pt x="3302000" y="1328615"/>
                  </a:lnTo>
                  <a:cubicBezTo>
                    <a:pt x="3302000" y="1346752"/>
                    <a:pt x="3294795" y="1364146"/>
                    <a:pt x="3281971" y="1376971"/>
                  </a:cubicBezTo>
                  <a:cubicBezTo>
                    <a:pt x="3269146" y="1389795"/>
                    <a:pt x="3251752" y="1397000"/>
                    <a:pt x="3233615" y="1397000"/>
                  </a:cubicBezTo>
                  <a:lnTo>
                    <a:pt x="68385" y="1397000"/>
                  </a:lnTo>
                  <a:cubicBezTo>
                    <a:pt x="50248" y="1397000"/>
                    <a:pt x="32854" y="1389795"/>
                    <a:pt x="20029" y="1376971"/>
                  </a:cubicBezTo>
                  <a:cubicBezTo>
                    <a:pt x="7205" y="1364146"/>
                    <a:pt x="0" y="1346752"/>
                    <a:pt x="0" y="1328615"/>
                  </a:cubicBezTo>
                  <a:lnTo>
                    <a:pt x="0" y="68385"/>
                  </a:lnTo>
                  <a:cubicBezTo>
                    <a:pt x="0" y="50248"/>
                    <a:pt x="7205" y="32854"/>
                    <a:pt x="20029" y="20029"/>
                  </a:cubicBezTo>
                  <a:cubicBezTo>
                    <a:pt x="32854" y="7205"/>
                    <a:pt x="50248" y="0"/>
                    <a:pt x="68385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43C6E8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19050"/>
              <a:ext cx="3302000" cy="1377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INTERACTIVE CLI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>
            <a:off x="6810375" y="3381375"/>
            <a:ext cx="476250" cy="0"/>
          </a:xfrm>
          <a:prstGeom prst="line">
            <a:avLst/>
          </a:prstGeom>
          <a:ln w="28575" cap="rnd">
            <a:solidFill>
              <a:srgbClr val="43C6E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5" name="Group 15"/>
          <p:cNvGrpSpPr/>
          <p:nvPr/>
        </p:nvGrpSpPr>
        <p:grpSpPr>
          <a:xfrm>
            <a:off x="7524750" y="2857500"/>
            <a:ext cx="2476500" cy="1047750"/>
            <a:chOff x="0" y="0"/>
            <a:chExt cx="3302000" cy="1397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302000" cy="1397000"/>
            </a:xfrm>
            <a:custGeom>
              <a:avLst/>
              <a:gdLst/>
              <a:ahLst/>
              <a:cxnLst/>
              <a:rect l="l" t="t" r="r" b="b"/>
              <a:pathLst>
                <a:path w="3302000" h="1397000">
                  <a:moveTo>
                    <a:pt x="68385" y="0"/>
                  </a:moveTo>
                  <a:lnTo>
                    <a:pt x="3233615" y="0"/>
                  </a:lnTo>
                  <a:cubicBezTo>
                    <a:pt x="3251752" y="0"/>
                    <a:pt x="3269146" y="7205"/>
                    <a:pt x="3281971" y="20029"/>
                  </a:cubicBezTo>
                  <a:cubicBezTo>
                    <a:pt x="3294795" y="32854"/>
                    <a:pt x="3302000" y="50248"/>
                    <a:pt x="3302000" y="68385"/>
                  </a:cubicBezTo>
                  <a:lnTo>
                    <a:pt x="3302000" y="1328615"/>
                  </a:lnTo>
                  <a:cubicBezTo>
                    <a:pt x="3302000" y="1346752"/>
                    <a:pt x="3294795" y="1364146"/>
                    <a:pt x="3281971" y="1376971"/>
                  </a:cubicBezTo>
                  <a:cubicBezTo>
                    <a:pt x="3269146" y="1389795"/>
                    <a:pt x="3251752" y="1397000"/>
                    <a:pt x="3233615" y="1397000"/>
                  </a:cubicBezTo>
                  <a:lnTo>
                    <a:pt x="68385" y="1397000"/>
                  </a:lnTo>
                  <a:cubicBezTo>
                    <a:pt x="50248" y="1397000"/>
                    <a:pt x="32854" y="1389795"/>
                    <a:pt x="20029" y="1376971"/>
                  </a:cubicBezTo>
                  <a:cubicBezTo>
                    <a:pt x="7205" y="1364146"/>
                    <a:pt x="0" y="1346752"/>
                    <a:pt x="0" y="1328615"/>
                  </a:cubicBezTo>
                  <a:lnTo>
                    <a:pt x="0" y="68385"/>
                  </a:lnTo>
                  <a:cubicBezTo>
                    <a:pt x="0" y="50248"/>
                    <a:pt x="7205" y="32854"/>
                    <a:pt x="20029" y="20029"/>
                  </a:cubicBezTo>
                  <a:cubicBezTo>
                    <a:pt x="32854" y="7205"/>
                    <a:pt x="50248" y="0"/>
                    <a:pt x="68385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57E389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19050"/>
              <a:ext cx="3302000" cy="1377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PROCESS MANAGER</a:t>
              </a:r>
            </a:p>
          </p:txBody>
        </p:sp>
      </p:grpSp>
      <p:sp>
        <p:nvSpPr>
          <p:cNvPr id="18" name="AutoShape 18"/>
          <p:cNvSpPr/>
          <p:nvPr/>
        </p:nvSpPr>
        <p:spPr>
          <a:xfrm>
            <a:off x="10001250" y="3381375"/>
            <a:ext cx="476250" cy="0"/>
          </a:xfrm>
          <a:prstGeom prst="line">
            <a:avLst/>
          </a:prstGeom>
          <a:ln w="28575" cap="rnd">
            <a:solidFill>
              <a:srgbClr val="43C6E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9" name="Group 19"/>
          <p:cNvGrpSpPr/>
          <p:nvPr/>
        </p:nvGrpSpPr>
        <p:grpSpPr>
          <a:xfrm>
            <a:off x="10715625" y="2857500"/>
            <a:ext cx="2476500" cy="1047750"/>
            <a:chOff x="0" y="0"/>
            <a:chExt cx="3302000" cy="1397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302000" cy="1397000"/>
            </a:xfrm>
            <a:custGeom>
              <a:avLst/>
              <a:gdLst/>
              <a:ahLst/>
              <a:cxnLst/>
              <a:rect l="l" t="t" r="r" b="b"/>
              <a:pathLst>
                <a:path w="3302000" h="1397000">
                  <a:moveTo>
                    <a:pt x="68385" y="0"/>
                  </a:moveTo>
                  <a:lnTo>
                    <a:pt x="3233615" y="0"/>
                  </a:lnTo>
                  <a:cubicBezTo>
                    <a:pt x="3251752" y="0"/>
                    <a:pt x="3269146" y="7205"/>
                    <a:pt x="3281971" y="20029"/>
                  </a:cubicBezTo>
                  <a:cubicBezTo>
                    <a:pt x="3294795" y="32854"/>
                    <a:pt x="3302000" y="50248"/>
                    <a:pt x="3302000" y="68385"/>
                  </a:cubicBezTo>
                  <a:lnTo>
                    <a:pt x="3302000" y="1328615"/>
                  </a:lnTo>
                  <a:cubicBezTo>
                    <a:pt x="3302000" y="1346752"/>
                    <a:pt x="3294795" y="1364146"/>
                    <a:pt x="3281971" y="1376971"/>
                  </a:cubicBezTo>
                  <a:cubicBezTo>
                    <a:pt x="3269146" y="1389795"/>
                    <a:pt x="3251752" y="1397000"/>
                    <a:pt x="3233615" y="1397000"/>
                  </a:cubicBezTo>
                  <a:lnTo>
                    <a:pt x="68385" y="1397000"/>
                  </a:lnTo>
                  <a:cubicBezTo>
                    <a:pt x="50248" y="1397000"/>
                    <a:pt x="32854" y="1389795"/>
                    <a:pt x="20029" y="1376971"/>
                  </a:cubicBezTo>
                  <a:cubicBezTo>
                    <a:pt x="7205" y="1364146"/>
                    <a:pt x="0" y="1346752"/>
                    <a:pt x="0" y="1328615"/>
                  </a:cubicBezTo>
                  <a:lnTo>
                    <a:pt x="0" y="68385"/>
                  </a:lnTo>
                  <a:cubicBezTo>
                    <a:pt x="0" y="50248"/>
                    <a:pt x="7205" y="32854"/>
                    <a:pt x="20029" y="20029"/>
                  </a:cubicBezTo>
                  <a:cubicBezTo>
                    <a:pt x="32854" y="7205"/>
                    <a:pt x="50248" y="0"/>
                    <a:pt x="68385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43C6E8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19050"/>
              <a:ext cx="3302000" cy="1377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LINUX KERNEL</a:t>
              </a:r>
            </a:p>
          </p:txBody>
        </p:sp>
      </p:grpSp>
      <p:sp>
        <p:nvSpPr>
          <p:cNvPr id="22" name="AutoShape 22"/>
          <p:cNvSpPr/>
          <p:nvPr/>
        </p:nvSpPr>
        <p:spPr>
          <a:xfrm>
            <a:off x="13192125" y="3381375"/>
            <a:ext cx="476250" cy="0"/>
          </a:xfrm>
          <a:prstGeom prst="line">
            <a:avLst/>
          </a:prstGeom>
          <a:ln w="28575" cap="rnd">
            <a:solidFill>
              <a:srgbClr val="43C6E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3" name="Group 23"/>
          <p:cNvGrpSpPr/>
          <p:nvPr/>
        </p:nvGrpSpPr>
        <p:grpSpPr>
          <a:xfrm>
            <a:off x="13906500" y="2857500"/>
            <a:ext cx="2476500" cy="1047750"/>
            <a:chOff x="0" y="0"/>
            <a:chExt cx="3302000" cy="13970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302000" cy="1397000"/>
            </a:xfrm>
            <a:custGeom>
              <a:avLst/>
              <a:gdLst/>
              <a:ahLst/>
              <a:cxnLst/>
              <a:rect l="l" t="t" r="r" b="b"/>
              <a:pathLst>
                <a:path w="3302000" h="1397000">
                  <a:moveTo>
                    <a:pt x="68385" y="0"/>
                  </a:moveTo>
                  <a:lnTo>
                    <a:pt x="3233615" y="0"/>
                  </a:lnTo>
                  <a:cubicBezTo>
                    <a:pt x="3251752" y="0"/>
                    <a:pt x="3269146" y="7205"/>
                    <a:pt x="3281971" y="20029"/>
                  </a:cubicBezTo>
                  <a:cubicBezTo>
                    <a:pt x="3294795" y="32854"/>
                    <a:pt x="3302000" y="50248"/>
                    <a:pt x="3302000" y="68385"/>
                  </a:cubicBezTo>
                  <a:lnTo>
                    <a:pt x="3302000" y="1328615"/>
                  </a:lnTo>
                  <a:cubicBezTo>
                    <a:pt x="3302000" y="1346752"/>
                    <a:pt x="3294795" y="1364146"/>
                    <a:pt x="3281971" y="1376971"/>
                  </a:cubicBezTo>
                  <a:cubicBezTo>
                    <a:pt x="3269146" y="1389795"/>
                    <a:pt x="3251752" y="1397000"/>
                    <a:pt x="3233615" y="1397000"/>
                  </a:cubicBezTo>
                  <a:lnTo>
                    <a:pt x="68385" y="1397000"/>
                  </a:lnTo>
                  <a:cubicBezTo>
                    <a:pt x="50248" y="1397000"/>
                    <a:pt x="32854" y="1389795"/>
                    <a:pt x="20029" y="1376971"/>
                  </a:cubicBezTo>
                  <a:cubicBezTo>
                    <a:pt x="7205" y="1364146"/>
                    <a:pt x="0" y="1346752"/>
                    <a:pt x="0" y="1328615"/>
                  </a:cubicBezTo>
                  <a:lnTo>
                    <a:pt x="0" y="68385"/>
                  </a:lnTo>
                  <a:cubicBezTo>
                    <a:pt x="0" y="50248"/>
                    <a:pt x="7205" y="32854"/>
                    <a:pt x="20029" y="20029"/>
                  </a:cubicBezTo>
                  <a:cubicBezTo>
                    <a:pt x="32854" y="7205"/>
                    <a:pt x="50248" y="0"/>
                    <a:pt x="68385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43C6E8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19050"/>
              <a:ext cx="3302000" cy="1377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PROCESSES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43000" y="5429250"/>
            <a:ext cx="4953000" cy="1000125"/>
            <a:chOff x="0" y="0"/>
            <a:chExt cx="6604000" cy="13335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604000" cy="1333500"/>
            </a:xfrm>
            <a:custGeom>
              <a:avLst/>
              <a:gdLst/>
              <a:ahLst/>
              <a:cxnLst/>
              <a:rect l="l" t="t" r="r" b="b"/>
              <a:pathLst>
                <a:path w="6604000" h="1333500">
                  <a:moveTo>
                    <a:pt x="0" y="0"/>
                  </a:moveTo>
                  <a:lnTo>
                    <a:pt x="6604000" y="0"/>
                  </a:lnTo>
                  <a:lnTo>
                    <a:pt x="66040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151D26"/>
            </a:solidFill>
            <a:ln cap="sq">
              <a:noFill/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6604000" cy="137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572250" y="5429250"/>
            <a:ext cx="4953000" cy="1000125"/>
            <a:chOff x="0" y="0"/>
            <a:chExt cx="6604000" cy="13335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604000" cy="1333500"/>
            </a:xfrm>
            <a:custGeom>
              <a:avLst/>
              <a:gdLst/>
              <a:ahLst/>
              <a:cxnLst/>
              <a:rect l="l" t="t" r="r" b="b"/>
              <a:pathLst>
                <a:path w="6604000" h="1333500">
                  <a:moveTo>
                    <a:pt x="0" y="0"/>
                  </a:moveTo>
                  <a:lnTo>
                    <a:pt x="6604000" y="0"/>
                  </a:lnTo>
                  <a:lnTo>
                    <a:pt x="66040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151D26"/>
            </a:solidFill>
            <a:ln cap="sq">
              <a:noFill/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6604000" cy="137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001500" y="5429250"/>
            <a:ext cx="4953000" cy="1000125"/>
            <a:chOff x="0" y="0"/>
            <a:chExt cx="6604000" cy="13335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604000" cy="1333500"/>
            </a:xfrm>
            <a:custGeom>
              <a:avLst/>
              <a:gdLst/>
              <a:ahLst/>
              <a:cxnLst/>
              <a:rect l="l" t="t" r="r" b="b"/>
              <a:pathLst>
                <a:path w="6604000" h="1333500">
                  <a:moveTo>
                    <a:pt x="0" y="0"/>
                  </a:moveTo>
                  <a:lnTo>
                    <a:pt x="6604000" y="0"/>
                  </a:lnTo>
                  <a:lnTo>
                    <a:pt x="66040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151D26"/>
            </a:solidFill>
            <a:ln cap="sq">
              <a:noFill/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6604000" cy="137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143000" y="6810375"/>
            <a:ext cx="4953000" cy="1000125"/>
            <a:chOff x="0" y="0"/>
            <a:chExt cx="6604000" cy="13335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604000" cy="1333500"/>
            </a:xfrm>
            <a:custGeom>
              <a:avLst/>
              <a:gdLst/>
              <a:ahLst/>
              <a:cxnLst/>
              <a:rect l="l" t="t" r="r" b="b"/>
              <a:pathLst>
                <a:path w="6604000" h="1333500">
                  <a:moveTo>
                    <a:pt x="0" y="0"/>
                  </a:moveTo>
                  <a:lnTo>
                    <a:pt x="6604000" y="0"/>
                  </a:lnTo>
                  <a:lnTo>
                    <a:pt x="66040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151D26"/>
            </a:solidFill>
            <a:ln cap="sq">
              <a:noFill/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6604000" cy="137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572250" y="6810375"/>
            <a:ext cx="4953000" cy="1000125"/>
            <a:chOff x="0" y="0"/>
            <a:chExt cx="6604000" cy="13335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604000" cy="1333500"/>
            </a:xfrm>
            <a:custGeom>
              <a:avLst/>
              <a:gdLst/>
              <a:ahLst/>
              <a:cxnLst/>
              <a:rect l="l" t="t" r="r" b="b"/>
              <a:pathLst>
                <a:path w="6604000" h="1333500">
                  <a:moveTo>
                    <a:pt x="0" y="0"/>
                  </a:moveTo>
                  <a:lnTo>
                    <a:pt x="6604000" y="0"/>
                  </a:lnTo>
                  <a:lnTo>
                    <a:pt x="66040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151D26"/>
            </a:solidFill>
            <a:ln cap="sq">
              <a:noFill/>
              <a:prstDash val="solid"/>
              <a:miter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6604000" cy="137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2001500" y="6810375"/>
            <a:ext cx="4953000" cy="1000125"/>
            <a:chOff x="0" y="0"/>
            <a:chExt cx="6604000" cy="13335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604000" cy="1333500"/>
            </a:xfrm>
            <a:custGeom>
              <a:avLst/>
              <a:gdLst/>
              <a:ahLst/>
              <a:cxnLst/>
              <a:rect l="l" t="t" r="r" b="b"/>
              <a:pathLst>
                <a:path w="6604000" h="1333500">
                  <a:moveTo>
                    <a:pt x="0" y="0"/>
                  </a:moveTo>
                  <a:lnTo>
                    <a:pt x="6604000" y="0"/>
                  </a:lnTo>
                  <a:lnTo>
                    <a:pt x="66040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151D26"/>
            </a:solidFill>
            <a:ln cap="sq">
              <a:noFill/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6604000" cy="137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409700" y="5695950"/>
            <a:ext cx="4429125" cy="307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F4F7FA"/>
                </a:solidFill>
                <a:latin typeface="Open Sans"/>
                <a:ea typeface="Open Sans"/>
                <a:cs typeface="Open Sans"/>
                <a:sym typeface="Open Sans"/>
              </a:rPr>
              <a:t>01  C / Linux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838950" y="5695950"/>
            <a:ext cx="4429125" cy="307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F4F7FA"/>
                </a:solidFill>
                <a:latin typeface="Open Sans"/>
                <a:ea typeface="Open Sans"/>
                <a:cs typeface="Open Sans"/>
                <a:sym typeface="Open Sans"/>
              </a:rPr>
              <a:t>02  FG + BG execution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2268200" y="5695950"/>
            <a:ext cx="4429125" cy="307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F4F7FA"/>
                </a:solidFill>
                <a:latin typeface="Open Sans"/>
                <a:ea typeface="Open Sans"/>
                <a:cs typeface="Open Sans"/>
                <a:sym typeface="Open Sans"/>
              </a:rPr>
              <a:t>03  Signals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409700" y="7077075"/>
            <a:ext cx="4429125" cy="307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F4F7FA"/>
                </a:solidFill>
                <a:latin typeface="Open Sans"/>
                <a:ea typeface="Open Sans"/>
                <a:cs typeface="Open Sans"/>
                <a:sym typeface="Open Sans"/>
              </a:rPr>
              <a:t>04  Pipes + redirection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838950" y="7077075"/>
            <a:ext cx="4429125" cy="307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F4F7FA"/>
                </a:solidFill>
                <a:latin typeface="Open Sans"/>
                <a:ea typeface="Open Sans"/>
                <a:cs typeface="Open Sans"/>
                <a:sym typeface="Open Sans"/>
              </a:rPr>
              <a:t>05  POSIX monitor thread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2268200" y="7077075"/>
            <a:ext cx="4429125" cy="307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F4F7FA"/>
                </a:solidFill>
                <a:latin typeface="Open Sans"/>
                <a:ea typeface="Open Sans"/>
                <a:cs typeface="Open Sans"/>
                <a:sym typeface="Open Sans"/>
              </a:rPr>
              <a:t>06  Memory validation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14400" y="9791700"/>
            <a:ext cx="164592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74"/>
              </a:lnSpc>
            </a:pPr>
            <a:r>
              <a:rPr lang="en-US" sz="1125" b="1" spc="89">
                <a:solidFill>
                  <a:srgbClr val="9BACB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INTERACTIVE PROCESS MANAGEMENT SYSTEM     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23875"/>
            <a:ext cx="857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43C6E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WHY THIS SYSTEM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038225"/>
            <a:ext cx="14287500" cy="587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1">
                <a:solidFill>
                  <a:srgbClr val="F4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Statement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1809750"/>
            <a:ext cx="16459200" cy="19050"/>
            <a:chOff x="0" y="0"/>
            <a:chExt cx="21945600" cy="25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5400"/>
            </a:xfrm>
            <a:custGeom>
              <a:avLst/>
              <a:gdLst/>
              <a:ahLst/>
              <a:cxnLst/>
              <a:rect l="l" t="t" r="r" b="b"/>
              <a:pathLst>
                <a:path w="21945600" h="254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B3A47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47750" y="3048000"/>
            <a:ext cx="7429500" cy="3905250"/>
            <a:chOff x="0" y="0"/>
            <a:chExt cx="9906000" cy="5207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906000" cy="5207000"/>
            </a:xfrm>
            <a:custGeom>
              <a:avLst/>
              <a:gdLst/>
              <a:ahLst/>
              <a:cxnLst/>
              <a:rect l="l" t="t" r="r" b="b"/>
              <a:pathLst>
                <a:path w="9906000" h="5207000">
                  <a:moveTo>
                    <a:pt x="0" y="0"/>
                  </a:moveTo>
                  <a:lnTo>
                    <a:pt x="9906000" y="0"/>
                  </a:lnTo>
                  <a:lnTo>
                    <a:pt x="9906000" y="5207000"/>
                  </a:lnTo>
                  <a:lnTo>
                    <a:pt x="0" y="5207000"/>
                  </a:lnTo>
                  <a:close/>
                </a:path>
              </a:pathLst>
            </a:custGeom>
            <a:solidFill>
              <a:srgbClr val="151D26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9906000" cy="524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810750" y="3048000"/>
            <a:ext cx="7429500" cy="3905250"/>
            <a:chOff x="0" y="0"/>
            <a:chExt cx="9906000" cy="5207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906000" cy="5207000"/>
            </a:xfrm>
            <a:custGeom>
              <a:avLst/>
              <a:gdLst/>
              <a:ahLst/>
              <a:cxnLst/>
              <a:rect l="l" t="t" r="r" b="b"/>
              <a:pathLst>
                <a:path w="9906000" h="5207000">
                  <a:moveTo>
                    <a:pt x="0" y="0"/>
                  </a:moveTo>
                  <a:lnTo>
                    <a:pt x="9906000" y="0"/>
                  </a:lnTo>
                  <a:lnTo>
                    <a:pt x="9906000" y="5207000"/>
                  </a:lnTo>
                  <a:lnTo>
                    <a:pt x="0" y="5207000"/>
                  </a:lnTo>
                  <a:close/>
                </a:path>
              </a:pathLst>
            </a:custGeom>
            <a:solidFill>
              <a:srgbClr val="1B2632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9906000" cy="524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33500" y="2486025"/>
            <a:ext cx="6667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32">
                <a:solidFill>
                  <a:srgbClr val="FF6B7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TRADITIONAL APPROACH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0" y="2486025"/>
            <a:ext cx="619125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32">
                <a:solidFill>
                  <a:srgbClr val="57E389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PROPOSED SYSTEM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14500" y="3352800"/>
            <a:ext cx="5905500" cy="1890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7"/>
              </a:lnSpc>
            </a:pPr>
            <a:r>
              <a:rPr lang="en-US" sz="2250">
                <a:solidFill>
                  <a:srgbClr val="9BACBA"/>
                </a:solidFill>
                <a:latin typeface="IBM Plex Mono"/>
                <a:ea typeface="IBM Plex Mono"/>
                <a:cs typeface="IBM Plex Mono"/>
                <a:sym typeface="IBM Plex Mono"/>
              </a:rPr>
              <a:t>Multiple commands</a:t>
            </a:r>
          </a:p>
          <a:p>
            <a:pPr algn="ctr">
              <a:lnSpc>
                <a:spcPts val="3037"/>
              </a:lnSpc>
            </a:pPr>
            <a:r>
              <a:rPr lang="en-US" sz="2250">
                <a:solidFill>
                  <a:srgbClr val="9BACBA"/>
                </a:solidFill>
                <a:latin typeface="IBM Plex Mono"/>
                <a:ea typeface="IBM Plex Mono"/>
                <a:cs typeface="IBM Plex Mono"/>
                <a:sym typeface="IBM Plex Mono"/>
              </a:rPr>
              <a:t>↓</a:t>
            </a:r>
          </a:p>
          <a:p>
            <a:pPr algn="ctr">
              <a:lnSpc>
                <a:spcPts val="3037"/>
              </a:lnSpc>
            </a:pPr>
            <a:r>
              <a:rPr lang="en-US" sz="2250">
                <a:solidFill>
                  <a:srgbClr val="9BACBA"/>
                </a:solidFill>
                <a:latin typeface="IBM Plex Mono"/>
                <a:ea typeface="IBM Plex Mono"/>
                <a:cs typeface="IBM Plex Mono"/>
                <a:sym typeface="IBM Plex Mono"/>
              </a:rPr>
              <a:t>Manual PID tracking</a:t>
            </a:r>
          </a:p>
          <a:p>
            <a:pPr algn="ctr">
              <a:lnSpc>
                <a:spcPts val="3037"/>
              </a:lnSpc>
            </a:pPr>
            <a:r>
              <a:rPr lang="en-US" sz="2250">
                <a:solidFill>
                  <a:srgbClr val="9BACBA"/>
                </a:solidFill>
                <a:latin typeface="IBM Plex Mono"/>
                <a:ea typeface="IBM Plex Mono"/>
                <a:cs typeface="IBM Plex Mono"/>
                <a:sym typeface="IBM Plex Mono"/>
              </a:rPr>
              <a:t>↓</a:t>
            </a:r>
          </a:p>
          <a:p>
            <a:pPr algn="ctr">
              <a:lnSpc>
                <a:spcPts val="3037"/>
              </a:lnSpc>
            </a:pPr>
            <a:r>
              <a:rPr lang="en-US" sz="2250">
                <a:solidFill>
                  <a:srgbClr val="9BACBA"/>
                </a:solidFill>
                <a:latin typeface="IBM Plex Mono"/>
                <a:ea typeface="IBM Plex Mono"/>
                <a:cs typeface="IBM Plex Mono"/>
                <a:sym typeface="IBM Plex Mono"/>
              </a:rPr>
              <a:t>Separate tools &amp; context switching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668000" y="3343275"/>
            <a:ext cx="5429250" cy="2226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43"/>
              </a:lnSpc>
            </a:pPr>
            <a:r>
              <a:rPr lang="en-US" sz="2625">
                <a:solidFill>
                  <a:srgbClr val="F4F7FA"/>
                </a:solidFill>
                <a:latin typeface="IBM Plex Mono"/>
                <a:ea typeface="IBM Plex Mono"/>
                <a:cs typeface="IBM Plex Mono"/>
                <a:sym typeface="IBM Plex Mono"/>
              </a:rPr>
              <a:t>One interactive CLI</a:t>
            </a:r>
          </a:p>
          <a:p>
            <a:pPr algn="ctr">
              <a:lnSpc>
                <a:spcPts val="3543"/>
              </a:lnSpc>
            </a:pPr>
            <a:r>
              <a:rPr lang="en-US" sz="2625">
                <a:solidFill>
                  <a:srgbClr val="F4F7FA"/>
                </a:solidFill>
                <a:latin typeface="IBM Plex Mono"/>
                <a:ea typeface="IBM Plex Mono"/>
                <a:cs typeface="IBM Plex Mono"/>
                <a:sym typeface="IBM Plex Mono"/>
              </a:rPr>
              <a:t>↓</a:t>
            </a:r>
          </a:p>
          <a:p>
            <a:pPr algn="ctr">
              <a:lnSpc>
                <a:spcPts val="3543"/>
              </a:lnSpc>
            </a:pPr>
            <a:r>
              <a:rPr lang="en-US" sz="2625">
                <a:solidFill>
                  <a:srgbClr val="F4F7FA"/>
                </a:solidFill>
                <a:latin typeface="IBM Plex Mono"/>
                <a:ea typeface="IBM Plex Mono"/>
                <a:cs typeface="IBM Plex Mono"/>
                <a:sym typeface="IBM Plex Mono"/>
              </a:rPr>
              <a:t>Central process registry</a:t>
            </a:r>
          </a:p>
          <a:p>
            <a:pPr algn="ctr">
              <a:lnSpc>
                <a:spcPts val="3543"/>
              </a:lnSpc>
            </a:pPr>
            <a:r>
              <a:rPr lang="en-US" sz="2625">
                <a:solidFill>
                  <a:srgbClr val="F4F7FA"/>
                </a:solidFill>
                <a:latin typeface="IBM Plex Mono"/>
                <a:ea typeface="IBM Plex Mono"/>
                <a:cs typeface="IBM Plex Mono"/>
                <a:sym typeface="IBM Plex Mono"/>
              </a:rPr>
              <a:t>↓</a:t>
            </a:r>
          </a:p>
          <a:p>
            <a:pPr algn="ctr">
              <a:lnSpc>
                <a:spcPts val="3543"/>
              </a:lnSpc>
            </a:pPr>
            <a:r>
              <a:rPr lang="en-US" sz="2625">
                <a:solidFill>
                  <a:srgbClr val="F4F7FA"/>
                </a:solidFill>
                <a:latin typeface="IBM Plex Mono"/>
                <a:ea typeface="IBM Plex Mono"/>
                <a:cs typeface="IBM Plex Mono"/>
                <a:sym typeface="IBM Plex Mono"/>
              </a:rPr>
              <a:t>Unified lifecycle control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048000" y="7781925"/>
            <a:ext cx="12192000" cy="747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7"/>
              </a:lnSpc>
            </a:pPr>
            <a:r>
              <a:rPr lang="en-US" sz="2250">
                <a:solidFill>
                  <a:srgbClr val="F4F7FA"/>
                </a:solidFill>
                <a:latin typeface="Open Sans"/>
                <a:ea typeface="Open Sans"/>
                <a:cs typeface="Open Sans"/>
                <a:sym typeface="Open Sans"/>
              </a:rPr>
              <a:t>The challenge is not one system call—it is coordinating creation, state, signals, IPC, redirection and concurrent monitoring safely.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14400" y="9791700"/>
            <a:ext cx="164592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74"/>
              </a:lnSpc>
            </a:pPr>
            <a:r>
              <a:rPr lang="en-US" sz="1125" b="1" spc="89">
                <a:solidFill>
                  <a:srgbClr val="9BACB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INTERACTIVE PROCESS MANAGEMENT SYSTEM     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23875"/>
            <a:ext cx="857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43C6E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SYSTEMS PROGRAMMING  /  04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038225"/>
            <a:ext cx="14287500" cy="587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1">
                <a:solidFill>
                  <a:srgbClr val="F4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Objectives → Implementation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1809750"/>
            <a:ext cx="16459200" cy="19050"/>
            <a:chOff x="0" y="0"/>
            <a:chExt cx="21945600" cy="25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5400"/>
            </a:xfrm>
            <a:custGeom>
              <a:avLst/>
              <a:gdLst/>
              <a:ahLst/>
              <a:cxnLst/>
              <a:rect l="l" t="t" r="r" b="b"/>
              <a:pathLst>
                <a:path w="21945600" h="254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B3A47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43000" y="2333625"/>
            <a:ext cx="5905500" cy="590550"/>
            <a:chOff x="0" y="0"/>
            <a:chExt cx="7874000" cy="787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874000" cy="787400"/>
            </a:xfrm>
            <a:custGeom>
              <a:avLst/>
              <a:gdLst/>
              <a:ahLst/>
              <a:cxnLst/>
              <a:rect l="l" t="t" r="r" b="b"/>
              <a:pathLst>
                <a:path w="7874000" h="787400">
                  <a:moveTo>
                    <a:pt x="28677" y="0"/>
                  </a:moveTo>
                  <a:lnTo>
                    <a:pt x="7845323" y="0"/>
                  </a:lnTo>
                  <a:cubicBezTo>
                    <a:pt x="7861160" y="0"/>
                    <a:pt x="7874000" y="12839"/>
                    <a:pt x="7874000" y="28677"/>
                  </a:cubicBezTo>
                  <a:lnTo>
                    <a:pt x="7874000" y="758723"/>
                  </a:lnTo>
                  <a:cubicBezTo>
                    <a:pt x="7874000" y="774561"/>
                    <a:pt x="7861160" y="787400"/>
                    <a:pt x="7845323" y="787400"/>
                  </a:cubicBezTo>
                  <a:lnTo>
                    <a:pt x="28677" y="787400"/>
                  </a:lnTo>
                  <a:cubicBezTo>
                    <a:pt x="12839" y="787400"/>
                    <a:pt x="0" y="774561"/>
                    <a:pt x="0" y="758723"/>
                  </a:cubicBezTo>
                  <a:lnTo>
                    <a:pt x="0" y="28677"/>
                  </a:lnTo>
                  <a:cubicBezTo>
                    <a:pt x="0" y="12839"/>
                    <a:pt x="12839" y="0"/>
                    <a:pt x="28677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2B3A47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19050"/>
              <a:ext cx="7874000" cy="768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1. Interactive controller</a:t>
              </a:r>
            </a:p>
          </p:txBody>
        </p:sp>
      </p:grpSp>
      <p:sp>
        <p:nvSpPr>
          <p:cNvPr id="10" name="AutoShape 10"/>
          <p:cNvSpPr/>
          <p:nvPr/>
        </p:nvSpPr>
        <p:spPr>
          <a:xfrm>
            <a:off x="7191375" y="2628900"/>
            <a:ext cx="3571875" cy="0"/>
          </a:xfrm>
          <a:prstGeom prst="line">
            <a:avLst/>
          </a:prstGeom>
          <a:ln w="28575" cap="rnd">
            <a:solidFill>
              <a:srgbClr val="43C6E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1" name="Group 11"/>
          <p:cNvGrpSpPr/>
          <p:nvPr/>
        </p:nvGrpSpPr>
        <p:grpSpPr>
          <a:xfrm>
            <a:off x="10906125" y="2333625"/>
            <a:ext cx="5953125" cy="590550"/>
            <a:chOff x="0" y="0"/>
            <a:chExt cx="7937500" cy="787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937500" cy="787400"/>
            </a:xfrm>
            <a:custGeom>
              <a:avLst/>
              <a:gdLst/>
              <a:ahLst/>
              <a:cxnLst/>
              <a:rect l="l" t="t" r="r" b="b"/>
              <a:pathLst>
                <a:path w="7937500" h="787400">
                  <a:moveTo>
                    <a:pt x="28448" y="0"/>
                  </a:moveTo>
                  <a:lnTo>
                    <a:pt x="7909052" y="0"/>
                  </a:lnTo>
                  <a:cubicBezTo>
                    <a:pt x="7916597" y="0"/>
                    <a:pt x="7923833" y="2997"/>
                    <a:pt x="7929168" y="8332"/>
                  </a:cubicBezTo>
                  <a:cubicBezTo>
                    <a:pt x="7934503" y="13667"/>
                    <a:pt x="7937500" y="20903"/>
                    <a:pt x="7937500" y="28448"/>
                  </a:cubicBezTo>
                  <a:lnTo>
                    <a:pt x="7937500" y="758952"/>
                  </a:lnTo>
                  <a:cubicBezTo>
                    <a:pt x="7937500" y="766497"/>
                    <a:pt x="7934503" y="773733"/>
                    <a:pt x="7929168" y="779068"/>
                  </a:cubicBezTo>
                  <a:cubicBezTo>
                    <a:pt x="7923833" y="784403"/>
                    <a:pt x="7916597" y="787400"/>
                    <a:pt x="7909052" y="787400"/>
                  </a:cubicBezTo>
                  <a:lnTo>
                    <a:pt x="28448" y="787400"/>
                  </a:lnTo>
                  <a:cubicBezTo>
                    <a:pt x="20903" y="787400"/>
                    <a:pt x="13667" y="784403"/>
                    <a:pt x="8332" y="779068"/>
                  </a:cubicBezTo>
                  <a:cubicBezTo>
                    <a:pt x="2997" y="773733"/>
                    <a:pt x="0" y="766497"/>
                    <a:pt x="0" y="758952"/>
                  </a:cubicBezTo>
                  <a:lnTo>
                    <a:pt x="0" y="28448"/>
                  </a:lnTo>
                  <a:cubicBezTo>
                    <a:pt x="0" y="12737"/>
                    <a:pt x="12737" y="0"/>
                    <a:pt x="28448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43C6E8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19050"/>
              <a:ext cx="7937500" cy="768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CLI + parser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43000" y="3171825"/>
            <a:ext cx="5905500" cy="590550"/>
            <a:chOff x="0" y="0"/>
            <a:chExt cx="7874000" cy="787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874000" cy="787400"/>
            </a:xfrm>
            <a:custGeom>
              <a:avLst/>
              <a:gdLst/>
              <a:ahLst/>
              <a:cxnLst/>
              <a:rect l="l" t="t" r="r" b="b"/>
              <a:pathLst>
                <a:path w="7874000" h="787400">
                  <a:moveTo>
                    <a:pt x="28677" y="0"/>
                  </a:moveTo>
                  <a:lnTo>
                    <a:pt x="7845323" y="0"/>
                  </a:lnTo>
                  <a:cubicBezTo>
                    <a:pt x="7861160" y="0"/>
                    <a:pt x="7874000" y="12839"/>
                    <a:pt x="7874000" y="28677"/>
                  </a:cubicBezTo>
                  <a:lnTo>
                    <a:pt x="7874000" y="758723"/>
                  </a:lnTo>
                  <a:cubicBezTo>
                    <a:pt x="7874000" y="774561"/>
                    <a:pt x="7861160" y="787400"/>
                    <a:pt x="7845323" y="787400"/>
                  </a:cubicBezTo>
                  <a:lnTo>
                    <a:pt x="28677" y="787400"/>
                  </a:lnTo>
                  <a:cubicBezTo>
                    <a:pt x="12839" y="787400"/>
                    <a:pt x="0" y="774561"/>
                    <a:pt x="0" y="758723"/>
                  </a:cubicBezTo>
                  <a:lnTo>
                    <a:pt x="0" y="28677"/>
                  </a:lnTo>
                  <a:cubicBezTo>
                    <a:pt x="0" y="12839"/>
                    <a:pt x="12839" y="0"/>
                    <a:pt x="28677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2B3A47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19050"/>
              <a:ext cx="7874000" cy="768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2. Process creation</a:t>
              </a:r>
            </a:p>
          </p:txBody>
        </p:sp>
      </p:grpSp>
      <p:sp>
        <p:nvSpPr>
          <p:cNvPr id="17" name="AutoShape 17"/>
          <p:cNvSpPr/>
          <p:nvPr/>
        </p:nvSpPr>
        <p:spPr>
          <a:xfrm>
            <a:off x="7191375" y="3467100"/>
            <a:ext cx="3571875" cy="0"/>
          </a:xfrm>
          <a:prstGeom prst="line">
            <a:avLst/>
          </a:prstGeom>
          <a:ln w="28575" cap="rnd">
            <a:solidFill>
              <a:srgbClr val="57E389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8" name="Group 18"/>
          <p:cNvGrpSpPr/>
          <p:nvPr/>
        </p:nvGrpSpPr>
        <p:grpSpPr>
          <a:xfrm>
            <a:off x="10906125" y="3171825"/>
            <a:ext cx="5953125" cy="590550"/>
            <a:chOff x="0" y="0"/>
            <a:chExt cx="7937500" cy="787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937500" cy="787400"/>
            </a:xfrm>
            <a:custGeom>
              <a:avLst/>
              <a:gdLst/>
              <a:ahLst/>
              <a:cxnLst/>
              <a:rect l="l" t="t" r="r" b="b"/>
              <a:pathLst>
                <a:path w="7937500" h="787400">
                  <a:moveTo>
                    <a:pt x="28448" y="0"/>
                  </a:moveTo>
                  <a:lnTo>
                    <a:pt x="7909052" y="0"/>
                  </a:lnTo>
                  <a:cubicBezTo>
                    <a:pt x="7916597" y="0"/>
                    <a:pt x="7923833" y="2997"/>
                    <a:pt x="7929168" y="8332"/>
                  </a:cubicBezTo>
                  <a:cubicBezTo>
                    <a:pt x="7934503" y="13667"/>
                    <a:pt x="7937500" y="20903"/>
                    <a:pt x="7937500" y="28448"/>
                  </a:cubicBezTo>
                  <a:lnTo>
                    <a:pt x="7937500" y="758952"/>
                  </a:lnTo>
                  <a:cubicBezTo>
                    <a:pt x="7937500" y="766497"/>
                    <a:pt x="7934503" y="773733"/>
                    <a:pt x="7929168" y="779068"/>
                  </a:cubicBezTo>
                  <a:cubicBezTo>
                    <a:pt x="7923833" y="784403"/>
                    <a:pt x="7916597" y="787400"/>
                    <a:pt x="7909052" y="787400"/>
                  </a:cubicBezTo>
                  <a:lnTo>
                    <a:pt x="28448" y="787400"/>
                  </a:lnTo>
                  <a:cubicBezTo>
                    <a:pt x="20903" y="787400"/>
                    <a:pt x="13667" y="784403"/>
                    <a:pt x="8332" y="779068"/>
                  </a:cubicBezTo>
                  <a:cubicBezTo>
                    <a:pt x="2997" y="773733"/>
                    <a:pt x="0" y="766497"/>
                    <a:pt x="0" y="758952"/>
                  </a:cubicBezTo>
                  <a:lnTo>
                    <a:pt x="0" y="28448"/>
                  </a:lnTo>
                  <a:cubicBezTo>
                    <a:pt x="0" y="12737"/>
                    <a:pt x="12737" y="0"/>
                    <a:pt x="28448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57E389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19050"/>
              <a:ext cx="7937500" cy="768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fork / exec / wait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43000" y="4010025"/>
            <a:ext cx="5905500" cy="590550"/>
            <a:chOff x="0" y="0"/>
            <a:chExt cx="7874000" cy="787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874000" cy="787400"/>
            </a:xfrm>
            <a:custGeom>
              <a:avLst/>
              <a:gdLst/>
              <a:ahLst/>
              <a:cxnLst/>
              <a:rect l="l" t="t" r="r" b="b"/>
              <a:pathLst>
                <a:path w="7874000" h="787400">
                  <a:moveTo>
                    <a:pt x="28677" y="0"/>
                  </a:moveTo>
                  <a:lnTo>
                    <a:pt x="7845323" y="0"/>
                  </a:lnTo>
                  <a:cubicBezTo>
                    <a:pt x="7861160" y="0"/>
                    <a:pt x="7874000" y="12839"/>
                    <a:pt x="7874000" y="28677"/>
                  </a:cubicBezTo>
                  <a:lnTo>
                    <a:pt x="7874000" y="758723"/>
                  </a:lnTo>
                  <a:cubicBezTo>
                    <a:pt x="7874000" y="774561"/>
                    <a:pt x="7861160" y="787400"/>
                    <a:pt x="7845323" y="787400"/>
                  </a:cubicBezTo>
                  <a:lnTo>
                    <a:pt x="28677" y="787400"/>
                  </a:lnTo>
                  <a:cubicBezTo>
                    <a:pt x="12839" y="787400"/>
                    <a:pt x="0" y="774561"/>
                    <a:pt x="0" y="758723"/>
                  </a:cubicBezTo>
                  <a:lnTo>
                    <a:pt x="0" y="28677"/>
                  </a:lnTo>
                  <a:cubicBezTo>
                    <a:pt x="0" y="12839"/>
                    <a:pt x="12839" y="0"/>
                    <a:pt x="28677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2B3A47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19050"/>
              <a:ext cx="7874000" cy="768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3. FG / BG handling</a:t>
              </a:r>
            </a:p>
          </p:txBody>
        </p:sp>
      </p:grpSp>
      <p:sp>
        <p:nvSpPr>
          <p:cNvPr id="24" name="AutoShape 24"/>
          <p:cNvSpPr/>
          <p:nvPr/>
        </p:nvSpPr>
        <p:spPr>
          <a:xfrm>
            <a:off x="7191375" y="4305300"/>
            <a:ext cx="3571875" cy="0"/>
          </a:xfrm>
          <a:prstGeom prst="line">
            <a:avLst/>
          </a:prstGeom>
          <a:ln w="28575" cap="rnd">
            <a:solidFill>
              <a:srgbClr val="43C6E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5" name="Group 25"/>
          <p:cNvGrpSpPr/>
          <p:nvPr/>
        </p:nvGrpSpPr>
        <p:grpSpPr>
          <a:xfrm>
            <a:off x="10906125" y="4010025"/>
            <a:ext cx="5953125" cy="590550"/>
            <a:chOff x="0" y="0"/>
            <a:chExt cx="7937500" cy="7874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937500" cy="787400"/>
            </a:xfrm>
            <a:custGeom>
              <a:avLst/>
              <a:gdLst/>
              <a:ahLst/>
              <a:cxnLst/>
              <a:rect l="l" t="t" r="r" b="b"/>
              <a:pathLst>
                <a:path w="7937500" h="787400">
                  <a:moveTo>
                    <a:pt x="28448" y="0"/>
                  </a:moveTo>
                  <a:lnTo>
                    <a:pt x="7909052" y="0"/>
                  </a:lnTo>
                  <a:cubicBezTo>
                    <a:pt x="7916597" y="0"/>
                    <a:pt x="7923833" y="2997"/>
                    <a:pt x="7929168" y="8332"/>
                  </a:cubicBezTo>
                  <a:cubicBezTo>
                    <a:pt x="7934503" y="13667"/>
                    <a:pt x="7937500" y="20903"/>
                    <a:pt x="7937500" y="28448"/>
                  </a:cubicBezTo>
                  <a:lnTo>
                    <a:pt x="7937500" y="758952"/>
                  </a:lnTo>
                  <a:cubicBezTo>
                    <a:pt x="7937500" y="766497"/>
                    <a:pt x="7934503" y="773733"/>
                    <a:pt x="7929168" y="779068"/>
                  </a:cubicBezTo>
                  <a:cubicBezTo>
                    <a:pt x="7923833" y="784403"/>
                    <a:pt x="7916597" y="787400"/>
                    <a:pt x="7909052" y="787400"/>
                  </a:cubicBezTo>
                  <a:lnTo>
                    <a:pt x="28448" y="787400"/>
                  </a:lnTo>
                  <a:cubicBezTo>
                    <a:pt x="20903" y="787400"/>
                    <a:pt x="13667" y="784403"/>
                    <a:pt x="8332" y="779068"/>
                  </a:cubicBezTo>
                  <a:cubicBezTo>
                    <a:pt x="2997" y="773733"/>
                    <a:pt x="0" y="766497"/>
                    <a:pt x="0" y="758952"/>
                  </a:cubicBezTo>
                  <a:lnTo>
                    <a:pt x="0" y="28448"/>
                  </a:lnTo>
                  <a:cubicBezTo>
                    <a:pt x="0" y="12737"/>
                    <a:pt x="12737" y="0"/>
                    <a:pt x="28448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43C6E8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19050"/>
              <a:ext cx="7937500" cy="768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process registry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43000" y="4848225"/>
            <a:ext cx="5905500" cy="590550"/>
            <a:chOff x="0" y="0"/>
            <a:chExt cx="7874000" cy="7874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874000" cy="787400"/>
            </a:xfrm>
            <a:custGeom>
              <a:avLst/>
              <a:gdLst/>
              <a:ahLst/>
              <a:cxnLst/>
              <a:rect l="l" t="t" r="r" b="b"/>
              <a:pathLst>
                <a:path w="7874000" h="787400">
                  <a:moveTo>
                    <a:pt x="28677" y="0"/>
                  </a:moveTo>
                  <a:lnTo>
                    <a:pt x="7845323" y="0"/>
                  </a:lnTo>
                  <a:cubicBezTo>
                    <a:pt x="7861160" y="0"/>
                    <a:pt x="7874000" y="12839"/>
                    <a:pt x="7874000" y="28677"/>
                  </a:cubicBezTo>
                  <a:lnTo>
                    <a:pt x="7874000" y="758723"/>
                  </a:lnTo>
                  <a:cubicBezTo>
                    <a:pt x="7874000" y="774561"/>
                    <a:pt x="7861160" y="787400"/>
                    <a:pt x="7845323" y="787400"/>
                  </a:cubicBezTo>
                  <a:lnTo>
                    <a:pt x="28677" y="787400"/>
                  </a:lnTo>
                  <a:cubicBezTo>
                    <a:pt x="12839" y="787400"/>
                    <a:pt x="0" y="774561"/>
                    <a:pt x="0" y="758723"/>
                  </a:cubicBezTo>
                  <a:lnTo>
                    <a:pt x="0" y="28677"/>
                  </a:lnTo>
                  <a:cubicBezTo>
                    <a:pt x="0" y="12839"/>
                    <a:pt x="12839" y="0"/>
                    <a:pt x="28677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2B3A47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19050"/>
              <a:ext cx="7874000" cy="768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4. POSIX signals</a:t>
              </a:r>
            </a:p>
          </p:txBody>
        </p:sp>
      </p:grpSp>
      <p:sp>
        <p:nvSpPr>
          <p:cNvPr id="31" name="AutoShape 31"/>
          <p:cNvSpPr/>
          <p:nvPr/>
        </p:nvSpPr>
        <p:spPr>
          <a:xfrm>
            <a:off x="7191375" y="5143500"/>
            <a:ext cx="3571875" cy="0"/>
          </a:xfrm>
          <a:prstGeom prst="line">
            <a:avLst/>
          </a:prstGeom>
          <a:ln w="28575" cap="rnd">
            <a:solidFill>
              <a:srgbClr val="57E389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2" name="Group 32"/>
          <p:cNvGrpSpPr/>
          <p:nvPr/>
        </p:nvGrpSpPr>
        <p:grpSpPr>
          <a:xfrm>
            <a:off x="10906125" y="4848225"/>
            <a:ext cx="5953125" cy="590550"/>
            <a:chOff x="0" y="0"/>
            <a:chExt cx="7937500" cy="7874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937500" cy="787400"/>
            </a:xfrm>
            <a:custGeom>
              <a:avLst/>
              <a:gdLst/>
              <a:ahLst/>
              <a:cxnLst/>
              <a:rect l="l" t="t" r="r" b="b"/>
              <a:pathLst>
                <a:path w="7937500" h="787400">
                  <a:moveTo>
                    <a:pt x="28448" y="0"/>
                  </a:moveTo>
                  <a:lnTo>
                    <a:pt x="7909052" y="0"/>
                  </a:lnTo>
                  <a:cubicBezTo>
                    <a:pt x="7916597" y="0"/>
                    <a:pt x="7923833" y="2997"/>
                    <a:pt x="7929168" y="8332"/>
                  </a:cubicBezTo>
                  <a:cubicBezTo>
                    <a:pt x="7934503" y="13667"/>
                    <a:pt x="7937500" y="20903"/>
                    <a:pt x="7937500" y="28448"/>
                  </a:cubicBezTo>
                  <a:lnTo>
                    <a:pt x="7937500" y="758952"/>
                  </a:lnTo>
                  <a:cubicBezTo>
                    <a:pt x="7937500" y="766497"/>
                    <a:pt x="7934503" y="773733"/>
                    <a:pt x="7929168" y="779068"/>
                  </a:cubicBezTo>
                  <a:cubicBezTo>
                    <a:pt x="7923833" y="784403"/>
                    <a:pt x="7916597" y="787400"/>
                    <a:pt x="7909052" y="787400"/>
                  </a:cubicBezTo>
                  <a:lnTo>
                    <a:pt x="28448" y="787400"/>
                  </a:lnTo>
                  <a:cubicBezTo>
                    <a:pt x="20903" y="787400"/>
                    <a:pt x="13667" y="784403"/>
                    <a:pt x="8332" y="779068"/>
                  </a:cubicBezTo>
                  <a:cubicBezTo>
                    <a:pt x="2997" y="773733"/>
                    <a:pt x="0" y="766497"/>
                    <a:pt x="0" y="758952"/>
                  </a:cubicBezTo>
                  <a:lnTo>
                    <a:pt x="0" y="28448"/>
                  </a:lnTo>
                  <a:cubicBezTo>
                    <a:pt x="0" y="12737"/>
                    <a:pt x="12737" y="0"/>
                    <a:pt x="28448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57E389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19050"/>
              <a:ext cx="7937500" cy="768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kill + handlers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143000" y="5686425"/>
            <a:ext cx="5905500" cy="590550"/>
            <a:chOff x="0" y="0"/>
            <a:chExt cx="7874000" cy="7874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874000" cy="787400"/>
            </a:xfrm>
            <a:custGeom>
              <a:avLst/>
              <a:gdLst/>
              <a:ahLst/>
              <a:cxnLst/>
              <a:rect l="l" t="t" r="r" b="b"/>
              <a:pathLst>
                <a:path w="7874000" h="787400">
                  <a:moveTo>
                    <a:pt x="28677" y="0"/>
                  </a:moveTo>
                  <a:lnTo>
                    <a:pt x="7845323" y="0"/>
                  </a:lnTo>
                  <a:cubicBezTo>
                    <a:pt x="7861160" y="0"/>
                    <a:pt x="7874000" y="12839"/>
                    <a:pt x="7874000" y="28677"/>
                  </a:cubicBezTo>
                  <a:lnTo>
                    <a:pt x="7874000" y="758723"/>
                  </a:lnTo>
                  <a:cubicBezTo>
                    <a:pt x="7874000" y="774561"/>
                    <a:pt x="7861160" y="787400"/>
                    <a:pt x="7845323" y="787400"/>
                  </a:cubicBezTo>
                  <a:lnTo>
                    <a:pt x="28677" y="787400"/>
                  </a:lnTo>
                  <a:cubicBezTo>
                    <a:pt x="12839" y="787400"/>
                    <a:pt x="0" y="774561"/>
                    <a:pt x="0" y="758723"/>
                  </a:cubicBezTo>
                  <a:lnTo>
                    <a:pt x="0" y="28677"/>
                  </a:lnTo>
                  <a:cubicBezTo>
                    <a:pt x="0" y="12839"/>
                    <a:pt x="12839" y="0"/>
                    <a:pt x="28677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2B3A47"/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19050"/>
              <a:ext cx="7874000" cy="768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5. Pipes / IPC</a:t>
              </a:r>
            </a:p>
          </p:txBody>
        </p:sp>
      </p:grpSp>
      <p:sp>
        <p:nvSpPr>
          <p:cNvPr id="38" name="AutoShape 38"/>
          <p:cNvSpPr/>
          <p:nvPr/>
        </p:nvSpPr>
        <p:spPr>
          <a:xfrm>
            <a:off x="7191375" y="5981700"/>
            <a:ext cx="3571875" cy="0"/>
          </a:xfrm>
          <a:prstGeom prst="line">
            <a:avLst/>
          </a:prstGeom>
          <a:ln w="28575" cap="rnd">
            <a:solidFill>
              <a:srgbClr val="43C6E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9" name="Group 39"/>
          <p:cNvGrpSpPr/>
          <p:nvPr/>
        </p:nvGrpSpPr>
        <p:grpSpPr>
          <a:xfrm>
            <a:off x="10906125" y="5686425"/>
            <a:ext cx="5953125" cy="590550"/>
            <a:chOff x="0" y="0"/>
            <a:chExt cx="7937500" cy="7874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7937500" cy="787400"/>
            </a:xfrm>
            <a:custGeom>
              <a:avLst/>
              <a:gdLst/>
              <a:ahLst/>
              <a:cxnLst/>
              <a:rect l="l" t="t" r="r" b="b"/>
              <a:pathLst>
                <a:path w="7937500" h="787400">
                  <a:moveTo>
                    <a:pt x="28448" y="0"/>
                  </a:moveTo>
                  <a:lnTo>
                    <a:pt x="7909052" y="0"/>
                  </a:lnTo>
                  <a:cubicBezTo>
                    <a:pt x="7916597" y="0"/>
                    <a:pt x="7923833" y="2997"/>
                    <a:pt x="7929168" y="8332"/>
                  </a:cubicBezTo>
                  <a:cubicBezTo>
                    <a:pt x="7934503" y="13667"/>
                    <a:pt x="7937500" y="20903"/>
                    <a:pt x="7937500" y="28448"/>
                  </a:cubicBezTo>
                  <a:lnTo>
                    <a:pt x="7937500" y="758952"/>
                  </a:lnTo>
                  <a:cubicBezTo>
                    <a:pt x="7937500" y="766497"/>
                    <a:pt x="7934503" y="773733"/>
                    <a:pt x="7929168" y="779068"/>
                  </a:cubicBezTo>
                  <a:cubicBezTo>
                    <a:pt x="7923833" y="784403"/>
                    <a:pt x="7916597" y="787400"/>
                    <a:pt x="7909052" y="787400"/>
                  </a:cubicBezTo>
                  <a:lnTo>
                    <a:pt x="28448" y="787400"/>
                  </a:lnTo>
                  <a:cubicBezTo>
                    <a:pt x="20903" y="787400"/>
                    <a:pt x="13667" y="784403"/>
                    <a:pt x="8332" y="779068"/>
                  </a:cubicBezTo>
                  <a:cubicBezTo>
                    <a:pt x="2997" y="773733"/>
                    <a:pt x="0" y="766497"/>
                    <a:pt x="0" y="758952"/>
                  </a:cubicBezTo>
                  <a:lnTo>
                    <a:pt x="0" y="28448"/>
                  </a:lnTo>
                  <a:cubicBezTo>
                    <a:pt x="0" y="12737"/>
                    <a:pt x="12737" y="0"/>
                    <a:pt x="28448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43C6E8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0" y="19050"/>
              <a:ext cx="7937500" cy="768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pipe + dup2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143000" y="6524625"/>
            <a:ext cx="5905500" cy="590550"/>
            <a:chOff x="0" y="0"/>
            <a:chExt cx="7874000" cy="7874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7874000" cy="787400"/>
            </a:xfrm>
            <a:custGeom>
              <a:avLst/>
              <a:gdLst/>
              <a:ahLst/>
              <a:cxnLst/>
              <a:rect l="l" t="t" r="r" b="b"/>
              <a:pathLst>
                <a:path w="7874000" h="787400">
                  <a:moveTo>
                    <a:pt x="28677" y="0"/>
                  </a:moveTo>
                  <a:lnTo>
                    <a:pt x="7845323" y="0"/>
                  </a:lnTo>
                  <a:cubicBezTo>
                    <a:pt x="7861160" y="0"/>
                    <a:pt x="7874000" y="12839"/>
                    <a:pt x="7874000" y="28677"/>
                  </a:cubicBezTo>
                  <a:lnTo>
                    <a:pt x="7874000" y="758723"/>
                  </a:lnTo>
                  <a:cubicBezTo>
                    <a:pt x="7874000" y="774561"/>
                    <a:pt x="7861160" y="787400"/>
                    <a:pt x="7845323" y="787400"/>
                  </a:cubicBezTo>
                  <a:lnTo>
                    <a:pt x="28677" y="787400"/>
                  </a:lnTo>
                  <a:cubicBezTo>
                    <a:pt x="12839" y="787400"/>
                    <a:pt x="0" y="774561"/>
                    <a:pt x="0" y="758723"/>
                  </a:cubicBezTo>
                  <a:lnTo>
                    <a:pt x="0" y="28677"/>
                  </a:lnTo>
                  <a:cubicBezTo>
                    <a:pt x="0" y="12839"/>
                    <a:pt x="12839" y="0"/>
                    <a:pt x="28677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2B3A47"/>
              </a:solidFill>
              <a:prstDash val="solid"/>
              <a:miter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0" y="19050"/>
              <a:ext cx="7874000" cy="768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6. I/O redirection</a:t>
              </a:r>
            </a:p>
          </p:txBody>
        </p:sp>
      </p:grpSp>
      <p:sp>
        <p:nvSpPr>
          <p:cNvPr id="45" name="AutoShape 45"/>
          <p:cNvSpPr/>
          <p:nvPr/>
        </p:nvSpPr>
        <p:spPr>
          <a:xfrm>
            <a:off x="7191375" y="6819900"/>
            <a:ext cx="3571875" cy="0"/>
          </a:xfrm>
          <a:prstGeom prst="line">
            <a:avLst/>
          </a:prstGeom>
          <a:ln w="28575" cap="rnd">
            <a:solidFill>
              <a:srgbClr val="57E389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46" name="Group 46"/>
          <p:cNvGrpSpPr/>
          <p:nvPr/>
        </p:nvGrpSpPr>
        <p:grpSpPr>
          <a:xfrm>
            <a:off x="10906125" y="6524625"/>
            <a:ext cx="5953125" cy="590550"/>
            <a:chOff x="0" y="0"/>
            <a:chExt cx="7937500" cy="7874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7937500" cy="787400"/>
            </a:xfrm>
            <a:custGeom>
              <a:avLst/>
              <a:gdLst/>
              <a:ahLst/>
              <a:cxnLst/>
              <a:rect l="l" t="t" r="r" b="b"/>
              <a:pathLst>
                <a:path w="7937500" h="787400">
                  <a:moveTo>
                    <a:pt x="28448" y="0"/>
                  </a:moveTo>
                  <a:lnTo>
                    <a:pt x="7909052" y="0"/>
                  </a:lnTo>
                  <a:cubicBezTo>
                    <a:pt x="7916597" y="0"/>
                    <a:pt x="7923833" y="2997"/>
                    <a:pt x="7929168" y="8332"/>
                  </a:cubicBezTo>
                  <a:cubicBezTo>
                    <a:pt x="7934503" y="13667"/>
                    <a:pt x="7937500" y="20903"/>
                    <a:pt x="7937500" y="28448"/>
                  </a:cubicBezTo>
                  <a:lnTo>
                    <a:pt x="7937500" y="758952"/>
                  </a:lnTo>
                  <a:cubicBezTo>
                    <a:pt x="7937500" y="766497"/>
                    <a:pt x="7934503" y="773733"/>
                    <a:pt x="7929168" y="779068"/>
                  </a:cubicBezTo>
                  <a:cubicBezTo>
                    <a:pt x="7923833" y="784403"/>
                    <a:pt x="7916597" y="787400"/>
                    <a:pt x="7909052" y="787400"/>
                  </a:cubicBezTo>
                  <a:lnTo>
                    <a:pt x="28448" y="787400"/>
                  </a:lnTo>
                  <a:cubicBezTo>
                    <a:pt x="20903" y="787400"/>
                    <a:pt x="13667" y="784403"/>
                    <a:pt x="8332" y="779068"/>
                  </a:cubicBezTo>
                  <a:cubicBezTo>
                    <a:pt x="2997" y="773733"/>
                    <a:pt x="0" y="766497"/>
                    <a:pt x="0" y="758952"/>
                  </a:cubicBezTo>
                  <a:lnTo>
                    <a:pt x="0" y="28448"/>
                  </a:lnTo>
                  <a:cubicBezTo>
                    <a:pt x="0" y="12737"/>
                    <a:pt x="12737" y="0"/>
                    <a:pt x="28448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57E389"/>
              </a:solidFill>
              <a:prstDash val="solid"/>
              <a:miter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0" y="19050"/>
              <a:ext cx="7937500" cy="768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open + dup2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143000" y="7362825"/>
            <a:ext cx="5905500" cy="590550"/>
            <a:chOff x="0" y="0"/>
            <a:chExt cx="7874000" cy="7874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7874000" cy="787400"/>
            </a:xfrm>
            <a:custGeom>
              <a:avLst/>
              <a:gdLst/>
              <a:ahLst/>
              <a:cxnLst/>
              <a:rect l="l" t="t" r="r" b="b"/>
              <a:pathLst>
                <a:path w="7874000" h="787400">
                  <a:moveTo>
                    <a:pt x="28677" y="0"/>
                  </a:moveTo>
                  <a:lnTo>
                    <a:pt x="7845323" y="0"/>
                  </a:lnTo>
                  <a:cubicBezTo>
                    <a:pt x="7861160" y="0"/>
                    <a:pt x="7874000" y="12839"/>
                    <a:pt x="7874000" y="28677"/>
                  </a:cubicBezTo>
                  <a:lnTo>
                    <a:pt x="7874000" y="758723"/>
                  </a:lnTo>
                  <a:cubicBezTo>
                    <a:pt x="7874000" y="774561"/>
                    <a:pt x="7861160" y="787400"/>
                    <a:pt x="7845323" y="787400"/>
                  </a:cubicBezTo>
                  <a:lnTo>
                    <a:pt x="28677" y="787400"/>
                  </a:lnTo>
                  <a:cubicBezTo>
                    <a:pt x="12839" y="787400"/>
                    <a:pt x="0" y="774561"/>
                    <a:pt x="0" y="758723"/>
                  </a:cubicBezTo>
                  <a:lnTo>
                    <a:pt x="0" y="28677"/>
                  </a:lnTo>
                  <a:cubicBezTo>
                    <a:pt x="0" y="12839"/>
                    <a:pt x="12839" y="0"/>
                    <a:pt x="28677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2B3A47"/>
              </a:solidFill>
              <a:prstDash val="solid"/>
              <a:miter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0" y="19050"/>
              <a:ext cx="7874000" cy="768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7. Threaded monitor</a:t>
              </a:r>
            </a:p>
          </p:txBody>
        </p:sp>
      </p:grpSp>
      <p:sp>
        <p:nvSpPr>
          <p:cNvPr id="52" name="AutoShape 52"/>
          <p:cNvSpPr/>
          <p:nvPr/>
        </p:nvSpPr>
        <p:spPr>
          <a:xfrm>
            <a:off x="7191375" y="7658100"/>
            <a:ext cx="3571875" cy="0"/>
          </a:xfrm>
          <a:prstGeom prst="line">
            <a:avLst/>
          </a:prstGeom>
          <a:ln w="28575" cap="rnd">
            <a:solidFill>
              <a:srgbClr val="43C6E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53" name="Group 53"/>
          <p:cNvGrpSpPr/>
          <p:nvPr/>
        </p:nvGrpSpPr>
        <p:grpSpPr>
          <a:xfrm>
            <a:off x="10906125" y="7362825"/>
            <a:ext cx="5953125" cy="590550"/>
            <a:chOff x="0" y="0"/>
            <a:chExt cx="7937500" cy="7874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7937500" cy="787400"/>
            </a:xfrm>
            <a:custGeom>
              <a:avLst/>
              <a:gdLst/>
              <a:ahLst/>
              <a:cxnLst/>
              <a:rect l="l" t="t" r="r" b="b"/>
              <a:pathLst>
                <a:path w="7937500" h="787400">
                  <a:moveTo>
                    <a:pt x="28448" y="0"/>
                  </a:moveTo>
                  <a:lnTo>
                    <a:pt x="7909052" y="0"/>
                  </a:lnTo>
                  <a:cubicBezTo>
                    <a:pt x="7916597" y="0"/>
                    <a:pt x="7923833" y="2997"/>
                    <a:pt x="7929168" y="8332"/>
                  </a:cubicBezTo>
                  <a:cubicBezTo>
                    <a:pt x="7934503" y="13667"/>
                    <a:pt x="7937500" y="20903"/>
                    <a:pt x="7937500" y="28448"/>
                  </a:cubicBezTo>
                  <a:lnTo>
                    <a:pt x="7937500" y="758952"/>
                  </a:lnTo>
                  <a:cubicBezTo>
                    <a:pt x="7937500" y="766497"/>
                    <a:pt x="7934503" y="773733"/>
                    <a:pt x="7929168" y="779068"/>
                  </a:cubicBezTo>
                  <a:cubicBezTo>
                    <a:pt x="7923833" y="784403"/>
                    <a:pt x="7916597" y="787400"/>
                    <a:pt x="7909052" y="787400"/>
                  </a:cubicBezTo>
                  <a:lnTo>
                    <a:pt x="28448" y="787400"/>
                  </a:lnTo>
                  <a:cubicBezTo>
                    <a:pt x="20903" y="787400"/>
                    <a:pt x="13667" y="784403"/>
                    <a:pt x="8332" y="779068"/>
                  </a:cubicBezTo>
                  <a:cubicBezTo>
                    <a:pt x="2997" y="773733"/>
                    <a:pt x="0" y="766497"/>
                    <a:pt x="0" y="758952"/>
                  </a:cubicBezTo>
                  <a:lnTo>
                    <a:pt x="0" y="28448"/>
                  </a:lnTo>
                  <a:cubicBezTo>
                    <a:pt x="0" y="12737"/>
                    <a:pt x="12737" y="0"/>
                    <a:pt x="28448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43C6E8"/>
              </a:solidFill>
              <a:prstDash val="solid"/>
              <a:miter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0" y="19050"/>
              <a:ext cx="7937500" cy="768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pthread + mutex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143000" y="8201025"/>
            <a:ext cx="5905500" cy="590550"/>
            <a:chOff x="0" y="0"/>
            <a:chExt cx="7874000" cy="7874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7874000" cy="787400"/>
            </a:xfrm>
            <a:custGeom>
              <a:avLst/>
              <a:gdLst/>
              <a:ahLst/>
              <a:cxnLst/>
              <a:rect l="l" t="t" r="r" b="b"/>
              <a:pathLst>
                <a:path w="7874000" h="787400">
                  <a:moveTo>
                    <a:pt x="28677" y="0"/>
                  </a:moveTo>
                  <a:lnTo>
                    <a:pt x="7845323" y="0"/>
                  </a:lnTo>
                  <a:cubicBezTo>
                    <a:pt x="7861160" y="0"/>
                    <a:pt x="7874000" y="12839"/>
                    <a:pt x="7874000" y="28677"/>
                  </a:cubicBezTo>
                  <a:lnTo>
                    <a:pt x="7874000" y="758723"/>
                  </a:lnTo>
                  <a:cubicBezTo>
                    <a:pt x="7874000" y="774561"/>
                    <a:pt x="7861160" y="787400"/>
                    <a:pt x="7845323" y="787400"/>
                  </a:cubicBezTo>
                  <a:lnTo>
                    <a:pt x="28677" y="787400"/>
                  </a:lnTo>
                  <a:cubicBezTo>
                    <a:pt x="12839" y="787400"/>
                    <a:pt x="0" y="774561"/>
                    <a:pt x="0" y="758723"/>
                  </a:cubicBezTo>
                  <a:lnTo>
                    <a:pt x="0" y="28677"/>
                  </a:lnTo>
                  <a:cubicBezTo>
                    <a:pt x="0" y="12839"/>
                    <a:pt x="12839" y="0"/>
                    <a:pt x="28677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2B3A47"/>
              </a:solidFill>
              <a:prstDash val="solid"/>
              <a:miter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0" y="19050"/>
              <a:ext cx="7874000" cy="768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8. Memory safety</a:t>
              </a:r>
            </a:p>
          </p:txBody>
        </p:sp>
      </p:grpSp>
      <p:sp>
        <p:nvSpPr>
          <p:cNvPr id="59" name="AutoShape 59"/>
          <p:cNvSpPr/>
          <p:nvPr/>
        </p:nvSpPr>
        <p:spPr>
          <a:xfrm>
            <a:off x="7191375" y="8496300"/>
            <a:ext cx="3571875" cy="0"/>
          </a:xfrm>
          <a:prstGeom prst="line">
            <a:avLst/>
          </a:prstGeom>
          <a:ln w="28575" cap="rnd">
            <a:solidFill>
              <a:srgbClr val="57E389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60" name="Group 60"/>
          <p:cNvGrpSpPr/>
          <p:nvPr/>
        </p:nvGrpSpPr>
        <p:grpSpPr>
          <a:xfrm>
            <a:off x="10906125" y="8201025"/>
            <a:ext cx="5953125" cy="590550"/>
            <a:chOff x="0" y="0"/>
            <a:chExt cx="7937500" cy="78740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7937500" cy="787400"/>
            </a:xfrm>
            <a:custGeom>
              <a:avLst/>
              <a:gdLst/>
              <a:ahLst/>
              <a:cxnLst/>
              <a:rect l="l" t="t" r="r" b="b"/>
              <a:pathLst>
                <a:path w="7937500" h="787400">
                  <a:moveTo>
                    <a:pt x="28448" y="0"/>
                  </a:moveTo>
                  <a:lnTo>
                    <a:pt x="7909052" y="0"/>
                  </a:lnTo>
                  <a:cubicBezTo>
                    <a:pt x="7916597" y="0"/>
                    <a:pt x="7923833" y="2997"/>
                    <a:pt x="7929168" y="8332"/>
                  </a:cubicBezTo>
                  <a:cubicBezTo>
                    <a:pt x="7934503" y="13667"/>
                    <a:pt x="7937500" y="20903"/>
                    <a:pt x="7937500" y="28448"/>
                  </a:cubicBezTo>
                  <a:lnTo>
                    <a:pt x="7937500" y="758952"/>
                  </a:lnTo>
                  <a:cubicBezTo>
                    <a:pt x="7937500" y="766497"/>
                    <a:pt x="7934503" y="773733"/>
                    <a:pt x="7929168" y="779068"/>
                  </a:cubicBezTo>
                  <a:cubicBezTo>
                    <a:pt x="7923833" y="784403"/>
                    <a:pt x="7916597" y="787400"/>
                    <a:pt x="7909052" y="787400"/>
                  </a:cubicBezTo>
                  <a:lnTo>
                    <a:pt x="28448" y="787400"/>
                  </a:lnTo>
                  <a:cubicBezTo>
                    <a:pt x="20903" y="787400"/>
                    <a:pt x="13667" y="784403"/>
                    <a:pt x="8332" y="779068"/>
                  </a:cubicBezTo>
                  <a:cubicBezTo>
                    <a:pt x="2997" y="773733"/>
                    <a:pt x="0" y="766497"/>
                    <a:pt x="0" y="758952"/>
                  </a:cubicBezTo>
                  <a:lnTo>
                    <a:pt x="0" y="28448"/>
                  </a:lnTo>
                  <a:cubicBezTo>
                    <a:pt x="0" y="12737"/>
                    <a:pt x="12737" y="0"/>
                    <a:pt x="28448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57E389"/>
              </a:solidFill>
              <a:prstDash val="solid"/>
              <a:miter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0" y="19050"/>
              <a:ext cx="7937500" cy="768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ASan + Valgrind</a:t>
              </a:r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914400" y="9791700"/>
            <a:ext cx="164592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74"/>
              </a:lnSpc>
            </a:pPr>
            <a:r>
              <a:rPr lang="en-US" sz="1125" b="1" spc="89">
                <a:solidFill>
                  <a:srgbClr val="9BACB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INTERACTIVE PROCESS MANAGEMENT SYSTEM     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23875"/>
            <a:ext cx="857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43C6E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SYSTEMS PROGRAMMING  /  05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038225"/>
            <a:ext cx="14287500" cy="587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1">
                <a:solidFill>
                  <a:srgbClr val="F4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System Architecture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1809750"/>
            <a:ext cx="16459200" cy="19050"/>
            <a:chOff x="0" y="0"/>
            <a:chExt cx="21945600" cy="25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5400"/>
            </a:xfrm>
            <a:custGeom>
              <a:avLst/>
              <a:gdLst/>
              <a:ahLst/>
              <a:cxnLst/>
              <a:rect l="l" t="t" r="r" b="b"/>
              <a:pathLst>
                <a:path w="21945600" h="254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B3A47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47750" y="2571750"/>
            <a:ext cx="2190750" cy="857250"/>
            <a:chOff x="0" y="0"/>
            <a:chExt cx="2921000" cy="1143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921000" cy="1143000"/>
            </a:xfrm>
            <a:custGeom>
              <a:avLst/>
              <a:gdLst/>
              <a:ahLst/>
              <a:cxnLst/>
              <a:rect l="l" t="t" r="r" b="b"/>
              <a:pathLst>
                <a:path w="2921000" h="1143000">
                  <a:moveTo>
                    <a:pt x="77304" y="0"/>
                  </a:moveTo>
                  <a:lnTo>
                    <a:pt x="2843696" y="0"/>
                  </a:lnTo>
                  <a:cubicBezTo>
                    <a:pt x="2864198" y="0"/>
                    <a:pt x="2883861" y="8145"/>
                    <a:pt x="2898358" y="22642"/>
                  </a:cubicBezTo>
                  <a:cubicBezTo>
                    <a:pt x="2912856" y="37139"/>
                    <a:pt x="2921000" y="56802"/>
                    <a:pt x="2921000" y="77304"/>
                  </a:cubicBezTo>
                  <a:lnTo>
                    <a:pt x="2921000" y="1065696"/>
                  </a:lnTo>
                  <a:cubicBezTo>
                    <a:pt x="2921000" y="1086198"/>
                    <a:pt x="2912856" y="1105861"/>
                    <a:pt x="2898358" y="1120358"/>
                  </a:cubicBezTo>
                  <a:cubicBezTo>
                    <a:pt x="2883861" y="1134855"/>
                    <a:pt x="2864198" y="1143000"/>
                    <a:pt x="2843696" y="1143000"/>
                  </a:cubicBezTo>
                  <a:lnTo>
                    <a:pt x="77304" y="1143000"/>
                  </a:lnTo>
                  <a:cubicBezTo>
                    <a:pt x="56802" y="1143000"/>
                    <a:pt x="37139" y="1134855"/>
                    <a:pt x="22642" y="1120358"/>
                  </a:cubicBezTo>
                  <a:cubicBezTo>
                    <a:pt x="8145" y="1105861"/>
                    <a:pt x="0" y="1086198"/>
                    <a:pt x="0" y="1065696"/>
                  </a:cubicBezTo>
                  <a:lnTo>
                    <a:pt x="0" y="77304"/>
                  </a:lnTo>
                  <a:cubicBezTo>
                    <a:pt x="0" y="56802"/>
                    <a:pt x="8145" y="37139"/>
                    <a:pt x="22642" y="22642"/>
                  </a:cubicBezTo>
                  <a:cubicBezTo>
                    <a:pt x="37139" y="8145"/>
                    <a:pt x="56802" y="0"/>
                    <a:pt x="77304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57E389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19050"/>
              <a:ext cx="2921000" cy="1123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USER</a:t>
              </a:r>
            </a:p>
          </p:txBody>
        </p:sp>
      </p:grpSp>
      <p:sp>
        <p:nvSpPr>
          <p:cNvPr id="10" name="AutoShape 10"/>
          <p:cNvSpPr/>
          <p:nvPr/>
        </p:nvSpPr>
        <p:spPr>
          <a:xfrm>
            <a:off x="3238500" y="3000375"/>
            <a:ext cx="1095375" cy="0"/>
          </a:xfrm>
          <a:prstGeom prst="line">
            <a:avLst/>
          </a:prstGeom>
          <a:ln w="28575" cap="rnd">
            <a:solidFill>
              <a:srgbClr val="43C6E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1" name="Group 11"/>
          <p:cNvGrpSpPr/>
          <p:nvPr/>
        </p:nvGrpSpPr>
        <p:grpSpPr>
          <a:xfrm>
            <a:off x="4476750" y="2428875"/>
            <a:ext cx="2857500" cy="1143000"/>
            <a:chOff x="0" y="0"/>
            <a:chExt cx="3810000" cy="1524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810000" cy="1524000"/>
            </a:xfrm>
            <a:custGeom>
              <a:avLst/>
              <a:gdLst/>
              <a:ahLst/>
              <a:cxnLst/>
              <a:rect l="l" t="t" r="r" b="b"/>
              <a:pathLst>
                <a:path w="3810000" h="1524000">
                  <a:moveTo>
                    <a:pt x="59267" y="0"/>
                  </a:moveTo>
                  <a:lnTo>
                    <a:pt x="3750733" y="0"/>
                  </a:lnTo>
                  <a:cubicBezTo>
                    <a:pt x="3783466" y="0"/>
                    <a:pt x="3810000" y="26535"/>
                    <a:pt x="3810000" y="59267"/>
                  </a:cubicBezTo>
                  <a:lnTo>
                    <a:pt x="3810000" y="1464733"/>
                  </a:lnTo>
                  <a:cubicBezTo>
                    <a:pt x="3810000" y="1497465"/>
                    <a:pt x="3783466" y="1524000"/>
                    <a:pt x="3750733" y="1524000"/>
                  </a:cubicBezTo>
                  <a:lnTo>
                    <a:pt x="59267" y="1524000"/>
                  </a:lnTo>
                  <a:cubicBezTo>
                    <a:pt x="26535" y="1524000"/>
                    <a:pt x="0" y="1497465"/>
                    <a:pt x="0" y="1464733"/>
                  </a:cubicBezTo>
                  <a:lnTo>
                    <a:pt x="0" y="59267"/>
                  </a:lnTo>
                  <a:cubicBezTo>
                    <a:pt x="0" y="26535"/>
                    <a:pt x="26535" y="0"/>
                    <a:pt x="59267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43C6E8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19050"/>
              <a:ext cx="3810000" cy="1504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INTERACTIVE CLI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Command Parser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714500" y="4857750"/>
            <a:ext cx="3143250" cy="1381125"/>
            <a:chOff x="0" y="0"/>
            <a:chExt cx="4191000" cy="18415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191000" cy="1841500"/>
            </a:xfrm>
            <a:custGeom>
              <a:avLst/>
              <a:gdLst/>
              <a:ahLst/>
              <a:cxnLst/>
              <a:rect l="l" t="t" r="r" b="b"/>
              <a:pathLst>
                <a:path w="4191000" h="1841500">
                  <a:moveTo>
                    <a:pt x="53879" y="0"/>
                  </a:moveTo>
                  <a:lnTo>
                    <a:pt x="4137121" y="0"/>
                  </a:lnTo>
                  <a:cubicBezTo>
                    <a:pt x="4151411" y="0"/>
                    <a:pt x="4165115" y="5676"/>
                    <a:pt x="4175219" y="15781"/>
                  </a:cubicBezTo>
                  <a:cubicBezTo>
                    <a:pt x="4185324" y="25885"/>
                    <a:pt x="4191000" y="39589"/>
                    <a:pt x="4191000" y="53879"/>
                  </a:cubicBezTo>
                  <a:lnTo>
                    <a:pt x="4191000" y="1787621"/>
                  </a:lnTo>
                  <a:cubicBezTo>
                    <a:pt x="4191000" y="1801911"/>
                    <a:pt x="4185324" y="1815615"/>
                    <a:pt x="4175219" y="1825719"/>
                  </a:cubicBezTo>
                  <a:cubicBezTo>
                    <a:pt x="4165115" y="1835824"/>
                    <a:pt x="4151411" y="1841500"/>
                    <a:pt x="4137121" y="1841500"/>
                  </a:cubicBezTo>
                  <a:lnTo>
                    <a:pt x="53879" y="1841500"/>
                  </a:lnTo>
                  <a:cubicBezTo>
                    <a:pt x="39589" y="1841500"/>
                    <a:pt x="25885" y="1835824"/>
                    <a:pt x="15781" y="1825719"/>
                  </a:cubicBezTo>
                  <a:cubicBezTo>
                    <a:pt x="5676" y="1815615"/>
                    <a:pt x="0" y="1801911"/>
                    <a:pt x="0" y="1787621"/>
                  </a:cubicBezTo>
                  <a:lnTo>
                    <a:pt x="0" y="53879"/>
                  </a:lnTo>
                  <a:cubicBezTo>
                    <a:pt x="0" y="39589"/>
                    <a:pt x="5676" y="25885"/>
                    <a:pt x="15781" y="15781"/>
                  </a:cubicBezTo>
                  <a:cubicBezTo>
                    <a:pt x="25885" y="5676"/>
                    <a:pt x="39589" y="0"/>
                    <a:pt x="53879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43C6E8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19050"/>
              <a:ext cx="4191000" cy="1822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PROCESS MGMT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fork · exec · wait</a:t>
              </a:r>
            </a:p>
          </p:txBody>
        </p:sp>
      </p:grpSp>
      <p:sp>
        <p:nvSpPr>
          <p:cNvPr id="17" name="AutoShape 17"/>
          <p:cNvSpPr/>
          <p:nvPr/>
        </p:nvSpPr>
        <p:spPr>
          <a:xfrm flipH="1">
            <a:off x="3286125" y="3571875"/>
            <a:ext cx="2619375" cy="1095375"/>
          </a:xfrm>
          <a:prstGeom prst="line">
            <a:avLst/>
          </a:prstGeom>
          <a:ln w="28575" cap="rnd">
            <a:solidFill>
              <a:srgbClr val="2B3A47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8" name="Group 18"/>
          <p:cNvGrpSpPr/>
          <p:nvPr/>
        </p:nvGrpSpPr>
        <p:grpSpPr>
          <a:xfrm>
            <a:off x="5715000" y="4857750"/>
            <a:ext cx="3143250" cy="1381125"/>
            <a:chOff x="0" y="0"/>
            <a:chExt cx="4191000" cy="18415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191000" cy="1841500"/>
            </a:xfrm>
            <a:custGeom>
              <a:avLst/>
              <a:gdLst/>
              <a:ahLst/>
              <a:cxnLst/>
              <a:rect l="l" t="t" r="r" b="b"/>
              <a:pathLst>
                <a:path w="4191000" h="1841500">
                  <a:moveTo>
                    <a:pt x="53879" y="0"/>
                  </a:moveTo>
                  <a:lnTo>
                    <a:pt x="4137121" y="0"/>
                  </a:lnTo>
                  <a:cubicBezTo>
                    <a:pt x="4151411" y="0"/>
                    <a:pt x="4165115" y="5676"/>
                    <a:pt x="4175219" y="15781"/>
                  </a:cubicBezTo>
                  <a:cubicBezTo>
                    <a:pt x="4185324" y="25885"/>
                    <a:pt x="4191000" y="39589"/>
                    <a:pt x="4191000" y="53879"/>
                  </a:cubicBezTo>
                  <a:lnTo>
                    <a:pt x="4191000" y="1787621"/>
                  </a:lnTo>
                  <a:cubicBezTo>
                    <a:pt x="4191000" y="1801911"/>
                    <a:pt x="4185324" y="1815615"/>
                    <a:pt x="4175219" y="1825719"/>
                  </a:cubicBezTo>
                  <a:cubicBezTo>
                    <a:pt x="4165115" y="1835824"/>
                    <a:pt x="4151411" y="1841500"/>
                    <a:pt x="4137121" y="1841500"/>
                  </a:cubicBezTo>
                  <a:lnTo>
                    <a:pt x="53879" y="1841500"/>
                  </a:lnTo>
                  <a:cubicBezTo>
                    <a:pt x="39589" y="1841500"/>
                    <a:pt x="25885" y="1835824"/>
                    <a:pt x="15781" y="1825719"/>
                  </a:cubicBezTo>
                  <a:cubicBezTo>
                    <a:pt x="5676" y="1815615"/>
                    <a:pt x="0" y="1801911"/>
                    <a:pt x="0" y="1787621"/>
                  </a:cubicBezTo>
                  <a:lnTo>
                    <a:pt x="0" y="53879"/>
                  </a:lnTo>
                  <a:cubicBezTo>
                    <a:pt x="0" y="39589"/>
                    <a:pt x="5676" y="25885"/>
                    <a:pt x="15781" y="15781"/>
                  </a:cubicBezTo>
                  <a:cubicBezTo>
                    <a:pt x="25885" y="5676"/>
                    <a:pt x="39589" y="0"/>
                    <a:pt x="53879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43C6E8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19050"/>
              <a:ext cx="4191000" cy="1822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I/O + IPC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pipe · dup2</a:t>
              </a:r>
            </a:p>
          </p:txBody>
        </p:sp>
      </p:grpSp>
      <p:sp>
        <p:nvSpPr>
          <p:cNvPr id="21" name="AutoShape 21"/>
          <p:cNvSpPr/>
          <p:nvPr/>
        </p:nvSpPr>
        <p:spPr>
          <a:xfrm>
            <a:off x="5905500" y="3571875"/>
            <a:ext cx="1381125" cy="1095375"/>
          </a:xfrm>
          <a:prstGeom prst="line">
            <a:avLst/>
          </a:prstGeom>
          <a:ln w="28575" cap="rnd">
            <a:solidFill>
              <a:srgbClr val="2B3A47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2" name="Group 22"/>
          <p:cNvGrpSpPr/>
          <p:nvPr/>
        </p:nvGrpSpPr>
        <p:grpSpPr>
          <a:xfrm>
            <a:off x="9715500" y="4857750"/>
            <a:ext cx="3143250" cy="1381125"/>
            <a:chOff x="0" y="0"/>
            <a:chExt cx="4191000" cy="18415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191000" cy="1841500"/>
            </a:xfrm>
            <a:custGeom>
              <a:avLst/>
              <a:gdLst/>
              <a:ahLst/>
              <a:cxnLst/>
              <a:rect l="l" t="t" r="r" b="b"/>
              <a:pathLst>
                <a:path w="4191000" h="1841500">
                  <a:moveTo>
                    <a:pt x="53879" y="0"/>
                  </a:moveTo>
                  <a:lnTo>
                    <a:pt x="4137121" y="0"/>
                  </a:lnTo>
                  <a:cubicBezTo>
                    <a:pt x="4151411" y="0"/>
                    <a:pt x="4165115" y="5676"/>
                    <a:pt x="4175219" y="15781"/>
                  </a:cubicBezTo>
                  <a:cubicBezTo>
                    <a:pt x="4185324" y="25885"/>
                    <a:pt x="4191000" y="39589"/>
                    <a:pt x="4191000" y="53879"/>
                  </a:cubicBezTo>
                  <a:lnTo>
                    <a:pt x="4191000" y="1787621"/>
                  </a:lnTo>
                  <a:cubicBezTo>
                    <a:pt x="4191000" y="1801911"/>
                    <a:pt x="4185324" y="1815615"/>
                    <a:pt x="4175219" y="1825719"/>
                  </a:cubicBezTo>
                  <a:cubicBezTo>
                    <a:pt x="4165115" y="1835824"/>
                    <a:pt x="4151411" y="1841500"/>
                    <a:pt x="4137121" y="1841500"/>
                  </a:cubicBezTo>
                  <a:lnTo>
                    <a:pt x="53879" y="1841500"/>
                  </a:lnTo>
                  <a:cubicBezTo>
                    <a:pt x="39589" y="1841500"/>
                    <a:pt x="25885" y="1835824"/>
                    <a:pt x="15781" y="1825719"/>
                  </a:cubicBezTo>
                  <a:cubicBezTo>
                    <a:pt x="5676" y="1815615"/>
                    <a:pt x="0" y="1801911"/>
                    <a:pt x="0" y="1787621"/>
                  </a:cubicBezTo>
                  <a:lnTo>
                    <a:pt x="0" y="53879"/>
                  </a:lnTo>
                  <a:cubicBezTo>
                    <a:pt x="0" y="39589"/>
                    <a:pt x="5676" y="25885"/>
                    <a:pt x="15781" y="15781"/>
                  </a:cubicBezTo>
                  <a:cubicBezTo>
                    <a:pt x="25885" y="5676"/>
                    <a:pt x="39589" y="0"/>
                    <a:pt x="53879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43C6E8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19050"/>
              <a:ext cx="4191000" cy="1822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SIGNALS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kill · handlers</a:t>
              </a:r>
            </a:p>
          </p:txBody>
        </p:sp>
      </p:grpSp>
      <p:sp>
        <p:nvSpPr>
          <p:cNvPr id="25" name="AutoShape 25"/>
          <p:cNvSpPr/>
          <p:nvPr/>
        </p:nvSpPr>
        <p:spPr>
          <a:xfrm>
            <a:off x="5905500" y="3571875"/>
            <a:ext cx="5381625" cy="1095375"/>
          </a:xfrm>
          <a:prstGeom prst="line">
            <a:avLst/>
          </a:prstGeom>
          <a:ln w="28575" cap="rnd">
            <a:solidFill>
              <a:srgbClr val="2B3A47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6" name="Group 26"/>
          <p:cNvGrpSpPr/>
          <p:nvPr/>
        </p:nvGrpSpPr>
        <p:grpSpPr>
          <a:xfrm>
            <a:off x="13716000" y="4857750"/>
            <a:ext cx="3143250" cy="1381125"/>
            <a:chOff x="0" y="0"/>
            <a:chExt cx="4191000" cy="18415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191000" cy="1841500"/>
            </a:xfrm>
            <a:custGeom>
              <a:avLst/>
              <a:gdLst/>
              <a:ahLst/>
              <a:cxnLst/>
              <a:rect l="l" t="t" r="r" b="b"/>
              <a:pathLst>
                <a:path w="4191000" h="1841500">
                  <a:moveTo>
                    <a:pt x="53879" y="0"/>
                  </a:moveTo>
                  <a:lnTo>
                    <a:pt x="4137121" y="0"/>
                  </a:lnTo>
                  <a:cubicBezTo>
                    <a:pt x="4151411" y="0"/>
                    <a:pt x="4165115" y="5676"/>
                    <a:pt x="4175219" y="15781"/>
                  </a:cubicBezTo>
                  <a:cubicBezTo>
                    <a:pt x="4185324" y="25885"/>
                    <a:pt x="4191000" y="39589"/>
                    <a:pt x="4191000" y="53879"/>
                  </a:cubicBezTo>
                  <a:lnTo>
                    <a:pt x="4191000" y="1787621"/>
                  </a:lnTo>
                  <a:cubicBezTo>
                    <a:pt x="4191000" y="1801911"/>
                    <a:pt x="4185324" y="1815615"/>
                    <a:pt x="4175219" y="1825719"/>
                  </a:cubicBezTo>
                  <a:cubicBezTo>
                    <a:pt x="4165115" y="1835824"/>
                    <a:pt x="4151411" y="1841500"/>
                    <a:pt x="4137121" y="1841500"/>
                  </a:cubicBezTo>
                  <a:lnTo>
                    <a:pt x="53879" y="1841500"/>
                  </a:lnTo>
                  <a:cubicBezTo>
                    <a:pt x="39589" y="1841500"/>
                    <a:pt x="25885" y="1835824"/>
                    <a:pt x="15781" y="1825719"/>
                  </a:cubicBezTo>
                  <a:cubicBezTo>
                    <a:pt x="5676" y="1815615"/>
                    <a:pt x="0" y="1801911"/>
                    <a:pt x="0" y="1787621"/>
                  </a:cubicBezTo>
                  <a:lnTo>
                    <a:pt x="0" y="53879"/>
                  </a:lnTo>
                  <a:cubicBezTo>
                    <a:pt x="0" y="39589"/>
                    <a:pt x="5676" y="25885"/>
                    <a:pt x="15781" y="15781"/>
                  </a:cubicBezTo>
                  <a:cubicBezTo>
                    <a:pt x="25885" y="5676"/>
                    <a:pt x="39589" y="0"/>
                    <a:pt x="53879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57E389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19050"/>
              <a:ext cx="4191000" cy="1822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MONITOR THREAD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pthread · mutex</a:t>
              </a:r>
            </a:p>
          </p:txBody>
        </p:sp>
      </p:grpSp>
      <p:sp>
        <p:nvSpPr>
          <p:cNvPr id="29" name="AutoShape 29"/>
          <p:cNvSpPr/>
          <p:nvPr/>
        </p:nvSpPr>
        <p:spPr>
          <a:xfrm>
            <a:off x="5905500" y="3571875"/>
            <a:ext cx="9382125" cy="1095375"/>
          </a:xfrm>
          <a:prstGeom prst="line">
            <a:avLst/>
          </a:prstGeom>
          <a:ln w="28575" cap="rnd">
            <a:solidFill>
              <a:srgbClr val="2B3A47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0" name="Group 30"/>
          <p:cNvGrpSpPr/>
          <p:nvPr/>
        </p:nvGrpSpPr>
        <p:grpSpPr>
          <a:xfrm>
            <a:off x="3429000" y="7572375"/>
            <a:ext cx="11430000" cy="952500"/>
            <a:chOff x="0" y="0"/>
            <a:chExt cx="15240000" cy="12700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5240000" cy="1270000"/>
            </a:xfrm>
            <a:custGeom>
              <a:avLst/>
              <a:gdLst/>
              <a:ahLst/>
              <a:cxnLst/>
              <a:rect l="l" t="t" r="r" b="b"/>
              <a:pathLst>
                <a:path w="15240000" h="1270000">
                  <a:moveTo>
                    <a:pt x="14817" y="0"/>
                  </a:moveTo>
                  <a:lnTo>
                    <a:pt x="15225184" y="0"/>
                  </a:lnTo>
                  <a:cubicBezTo>
                    <a:pt x="15233366" y="0"/>
                    <a:pt x="15240000" y="6634"/>
                    <a:pt x="15240000" y="14817"/>
                  </a:cubicBezTo>
                  <a:lnTo>
                    <a:pt x="15240000" y="1255183"/>
                  </a:lnTo>
                  <a:cubicBezTo>
                    <a:pt x="15240000" y="1263366"/>
                    <a:pt x="15233366" y="1270000"/>
                    <a:pt x="15225184" y="1270000"/>
                  </a:cubicBezTo>
                  <a:lnTo>
                    <a:pt x="14817" y="1270000"/>
                  </a:lnTo>
                  <a:cubicBezTo>
                    <a:pt x="6634" y="1270000"/>
                    <a:pt x="0" y="1263366"/>
                    <a:pt x="0" y="1255183"/>
                  </a:cubicBezTo>
                  <a:lnTo>
                    <a:pt x="0" y="14817"/>
                  </a:lnTo>
                  <a:cubicBezTo>
                    <a:pt x="0" y="6634"/>
                    <a:pt x="6634" y="0"/>
                    <a:pt x="14817" y="0"/>
                  </a:cubicBezTo>
                  <a:close/>
                </a:path>
              </a:pathLst>
            </a:custGeom>
            <a:solidFill>
              <a:srgbClr val="10231B"/>
            </a:solidFill>
            <a:ln w="19050" cap="sq">
              <a:solidFill>
                <a:srgbClr val="57E389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19050"/>
              <a:ext cx="15240000" cy="1250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LINUX / POSIX APIs  →  KERNEL  →  MANAGED PROCESSES</a:t>
              </a:r>
            </a:p>
          </p:txBody>
        </p:sp>
      </p:grpSp>
      <p:sp>
        <p:nvSpPr>
          <p:cNvPr id="33" name="AutoShape 33"/>
          <p:cNvSpPr/>
          <p:nvPr/>
        </p:nvSpPr>
        <p:spPr>
          <a:xfrm>
            <a:off x="9144000" y="6238875"/>
            <a:ext cx="0" cy="1143000"/>
          </a:xfrm>
          <a:prstGeom prst="line">
            <a:avLst/>
          </a:prstGeom>
          <a:ln w="28575" cap="rnd">
            <a:solidFill>
              <a:srgbClr val="57E389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34" name="TextBox 34"/>
          <p:cNvSpPr txBox="1"/>
          <p:nvPr/>
        </p:nvSpPr>
        <p:spPr>
          <a:xfrm>
            <a:off x="914400" y="9791700"/>
            <a:ext cx="164592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74"/>
              </a:lnSpc>
            </a:pPr>
            <a:r>
              <a:rPr lang="en-US" sz="1125" b="1" spc="89">
                <a:solidFill>
                  <a:srgbClr val="9BACB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INTERACTIVE PROCESS MANAGEMENT SYSTEM     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23875"/>
            <a:ext cx="857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43C6E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SYSTEMS PROGRAMMING  /  06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038225"/>
            <a:ext cx="14287500" cy="587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1">
                <a:solidFill>
                  <a:srgbClr val="F4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Process Creation &amp; Execution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1809750"/>
            <a:ext cx="16459200" cy="19050"/>
            <a:chOff x="0" y="0"/>
            <a:chExt cx="21945600" cy="25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5400"/>
            </a:xfrm>
            <a:custGeom>
              <a:avLst/>
              <a:gdLst/>
              <a:ahLst/>
              <a:cxnLst/>
              <a:rect l="l" t="t" r="r" b="b"/>
              <a:pathLst>
                <a:path w="21945600" h="254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B3A47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19250" y="2333625"/>
            <a:ext cx="3524250" cy="704850"/>
            <a:chOff x="0" y="0"/>
            <a:chExt cx="4699000" cy="939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699000" cy="939800"/>
            </a:xfrm>
            <a:custGeom>
              <a:avLst/>
              <a:gdLst/>
              <a:ahLst/>
              <a:cxnLst/>
              <a:rect l="l" t="t" r="r" b="b"/>
              <a:pathLst>
                <a:path w="4699000" h="939800">
                  <a:moveTo>
                    <a:pt x="48054" y="0"/>
                  </a:moveTo>
                  <a:lnTo>
                    <a:pt x="4650946" y="0"/>
                  </a:lnTo>
                  <a:cubicBezTo>
                    <a:pt x="4663691" y="0"/>
                    <a:pt x="4675913" y="5063"/>
                    <a:pt x="4684925" y="14075"/>
                  </a:cubicBezTo>
                  <a:cubicBezTo>
                    <a:pt x="4693937" y="23087"/>
                    <a:pt x="4699000" y="35309"/>
                    <a:pt x="4699000" y="48054"/>
                  </a:cubicBezTo>
                  <a:lnTo>
                    <a:pt x="4699000" y="891746"/>
                  </a:lnTo>
                  <a:cubicBezTo>
                    <a:pt x="4699000" y="904491"/>
                    <a:pt x="4693937" y="916713"/>
                    <a:pt x="4684925" y="925725"/>
                  </a:cubicBezTo>
                  <a:cubicBezTo>
                    <a:pt x="4675913" y="934737"/>
                    <a:pt x="4663691" y="939800"/>
                    <a:pt x="4650946" y="939800"/>
                  </a:cubicBezTo>
                  <a:lnTo>
                    <a:pt x="48054" y="939800"/>
                  </a:lnTo>
                  <a:cubicBezTo>
                    <a:pt x="35309" y="939800"/>
                    <a:pt x="23087" y="934737"/>
                    <a:pt x="14075" y="925725"/>
                  </a:cubicBezTo>
                  <a:cubicBezTo>
                    <a:pt x="5063" y="916713"/>
                    <a:pt x="0" y="904491"/>
                    <a:pt x="0" y="891746"/>
                  </a:cubicBezTo>
                  <a:lnTo>
                    <a:pt x="0" y="48054"/>
                  </a:lnTo>
                  <a:cubicBezTo>
                    <a:pt x="0" y="35309"/>
                    <a:pt x="5063" y="23087"/>
                    <a:pt x="14075" y="14075"/>
                  </a:cubicBezTo>
                  <a:cubicBezTo>
                    <a:pt x="23087" y="5063"/>
                    <a:pt x="35309" y="0"/>
                    <a:pt x="48054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43C6E8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19050"/>
              <a:ext cx="4699000" cy="920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COMMAND</a:t>
              </a:r>
            </a:p>
          </p:txBody>
        </p:sp>
      </p:grpSp>
      <p:sp>
        <p:nvSpPr>
          <p:cNvPr id="10" name="AutoShape 10"/>
          <p:cNvSpPr/>
          <p:nvPr/>
        </p:nvSpPr>
        <p:spPr>
          <a:xfrm>
            <a:off x="3381375" y="3038475"/>
            <a:ext cx="0" cy="257175"/>
          </a:xfrm>
          <a:prstGeom prst="line">
            <a:avLst/>
          </a:prstGeom>
          <a:ln w="28575" cap="rnd">
            <a:solidFill>
              <a:srgbClr val="43C6E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1" name="Group 11"/>
          <p:cNvGrpSpPr/>
          <p:nvPr/>
        </p:nvGrpSpPr>
        <p:grpSpPr>
          <a:xfrm>
            <a:off x="1619250" y="3429000"/>
            <a:ext cx="3524250" cy="704850"/>
            <a:chOff x="0" y="0"/>
            <a:chExt cx="4699000" cy="939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699000" cy="939800"/>
            </a:xfrm>
            <a:custGeom>
              <a:avLst/>
              <a:gdLst/>
              <a:ahLst/>
              <a:cxnLst/>
              <a:rect l="l" t="t" r="r" b="b"/>
              <a:pathLst>
                <a:path w="4699000" h="939800">
                  <a:moveTo>
                    <a:pt x="48054" y="0"/>
                  </a:moveTo>
                  <a:lnTo>
                    <a:pt x="4650946" y="0"/>
                  </a:lnTo>
                  <a:cubicBezTo>
                    <a:pt x="4663691" y="0"/>
                    <a:pt x="4675913" y="5063"/>
                    <a:pt x="4684925" y="14075"/>
                  </a:cubicBezTo>
                  <a:cubicBezTo>
                    <a:pt x="4693937" y="23087"/>
                    <a:pt x="4699000" y="35309"/>
                    <a:pt x="4699000" y="48054"/>
                  </a:cubicBezTo>
                  <a:lnTo>
                    <a:pt x="4699000" y="891746"/>
                  </a:lnTo>
                  <a:cubicBezTo>
                    <a:pt x="4699000" y="904491"/>
                    <a:pt x="4693937" y="916713"/>
                    <a:pt x="4684925" y="925725"/>
                  </a:cubicBezTo>
                  <a:cubicBezTo>
                    <a:pt x="4675913" y="934737"/>
                    <a:pt x="4663691" y="939800"/>
                    <a:pt x="4650946" y="939800"/>
                  </a:cubicBezTo>
                  <a:lnTo>
                    <a:pt x="48054" y="939800"/>
                  </a:lnTo>
                  <a:cubicBezTo>
                    <a:pt x="35309" y="939800"/>
                    <a:pt x="23087" y="934737"/>
                    <a:pt x="14075" y="925725"/>
                  </a:cubicBezTo>
                  <a:cubicBezTo>
                    <a:pt x="5063" y="916713"/>
                    <a:pt x="0" y="904491"/>
                    <a:pt x="0" y="891746"/>
                  </a:cubicBezTo>
                  <a:lnTo>
                    <a:pt x="0" y="48054"/>
                  </a:lnTo>
                  <a:cubicBezTo>
                    <a:pt x="0" y="35309"/>
                    <a:pt x="5063" y="23087"/>
                    <a:pt x="14075" y="14075"/>
                  </a:cubicBezTo>
                  <a:cubicBezTo>
                    <a:pt x="23087" y="5063"/>
                    <a:pt x="35309" y="0"/>
                    <a:pt x="48054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43C6E8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19050"/>
              <a:ext cx="4699000" cy="920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PARSE INPUT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>
            <a:off x="3381375" y="4133850"/>
            <a:ext cx="0" cy="257175"/>
          </a:xfrm>
          <a:prstGeom prst="line">
            <a:avLst/>
          </a:prstGeom>
          <a:ln w="28575" cap="rnd">
            <a:solidFill>
              <a:srgbClr val="43C6E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5" name="Group 15"/>
          <p:cNvGrpSpPr/>
          <p:nvPr/>
        </p:nvGrpSpPr>
        <p:grpSpPr>
          <a:xfrm>
            <a:off x="1619250" y="4524375"/>
            <a:ext cx="3524250" cy="704850"/>
            <a:chOff x="0" y="0"/>
            <a:chExt cx="4699000" cy="939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699000" cy="939800"/>
            </a:xfrm>
            <a:custGeom>
              <a:avLst/>
              <a:gdLst/>
              <a:ahLst/>
              <a:cxnLst/>
              <a:rect l="l" t="t" r="r" b="b"/>
              <a:pathLst>
                <a:path w="4699000" h="939800">
                  <a:moveTo>
                    <a:pt x="48054" y="0"/>
                  </a:moveTo>
                  <a:lnTo>
                    <a:pt x="4650946" y="0"/>
                  </a:lnTo>
                  <a:cubicBezTo>
                    <a:pt x="4663691" y="0"/>
                    <a:pt x="4675913" y="5063"/>
                    <a:pt x="4684925" y="14075"/>
                  </a:cubicBezTo>
                  <a:cubicBezTo>
                    <a:pt x="4693937" y="23087"/>
                    <a:pt x="4699000" y="35309"/>
                    <a:pt x="4699000" y="48054"/>
                  </a:cubicBezTo>
                  <a:lnTo>
                    <a:pt x="4699000" y="891746"/>
                  </a:lnTo>
                  <a:cubicBezTo>
                    <a:pt x="4699000" y="904491"/>
                    <a:pt x="4693937" y="916713"/>
                    <a:pt x="4684925" y="925725"/>
                  </a:cubicBezTo>
                  <a:cubicBezTo>
                    <a:pt x="4675913" y="934737"/>
                    <a:pt x="4663691" y="939800"/>
                    <a:pt x="4650946" y="939800"/>
                  </a:cubicBezTo>
                  <a:lnTo>
                    <a:pt x="48054" y="939800"/>
                  </a:lnTo>
                  <a:cubicBezTo>
                    <a:pt x="35309" y="939800"/>
                    <a:pt x="23087" y="934737"/>
                    <a:pt x="14075" y="925725"/>
                  </a:cubicBezTo>
                  <a:cubicBezTo>
                    <a:pt x="5063" y="916713"/>
                    <a:pt x="0" y="904491"/>
                    <a:pt x="0" y="891746"/>
                  </a:cubicBezTo>
                  <a:lnTo>
                    <a:pt x="0" y="48054"/>
                  </a:lnTo>
                  <a:cubicBezTo>
                    <a:pt x="0" y="35309"/>
                    <a:pt x="5063" y="23087"/>
                    <a:pt x="14075" y="14075"/>
                  </a:cubicBezTo>
                  <a:cubicBezTo>
                    <a:pt x="23087" y="5063"/>
                    <a:pt x="35309" y="0"/>
                    <a:pt x="48054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57E389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19050"/>
              <a:ext cx="4699000" cy="920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fork()</a:t>
              </a:r>
            </a:p>
          </p:txBody>
        </p:sp>
      </p:grpSp>
      <p:sp>
        <p:nvSpPr>
          <p:cNvPr id="18" name="AutoShape 18"/>
          <p:cNvSpPr/>
          <p:nvPr/>
        </p:nvSpPr>
        <p:spPr>
          <a:xfrm flipV="1">
            <a:off x="5143500" y="3810000"/>
            <a:ext cx="2286000" cy="1066800"/>
          </a:xfrm>
          <a:prstGeom prst="line">
            <a:avLst/>
          </a:prstGeom>
          <a:ln w="28575" cap="rnd">
            <a:solidFill>
              <a:srgbClr val="43C6E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9" name="Group 19"/>
          <p:cNvGrpSpPr/>
          <p:nvPr/>
        </p:nvGrpSpPr>
        <p:grpSpPr>
          <a:xfrm>
            <a:off x="7572375" y="3333750"/>
            <a:ext cx="3238500" cy="904875"/>
            <a:chOff x="0" y="0"/>
            <a:chExt cx="4318000" cy="12065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318000" cy="1206500"/>
            </a:xfrm>
            <a:custGeom>
              <a:avLst/>
              <a:gdLst/>
              <a:ahLst/>
              <a:cxnLst/>
              <a:rect l="l" t="t" r="r" b="b"/>
              <a:pathLst>
                <a:path w="4318000" h="1206500">
                  <a:moveTo>
                    <a:pt x="52294" y="0"/>
                  </a:moveTo>
                  <a:lnTo>
                    <a:pt x="4265706" y="0"/>
                  </a:lnTo>
                  <a:cubicBezTo>
                    <a:pt x="4294587" y="0"/>
                    <a:pt x="4318000" y="23413"/>
                    <a:pt x="4318000" y="52294"/>
                  </a:cubicBezTo>
                  <a:lnTo>
                    <a:pt x="4318000" y="1154206"/>
                  </a:lnTo>
                  <a:cubicBezTo>
                    <a:pt x="4318000" y="1183087"/>
                    <a:pt x="4294587" y="1206500"/>
                    <a:pt x="4265706" y="1206500"/>
                  </a:cubicBezTo>
                  <a:lnTo>
                    <a:pt x="52294" y="1206500"/>
                  </a:lnTo>
                  <a:cubicBezTo>
                    <a:pt x="23413" y="1206500"/>
                    <a:pt x="0" y="1183087"/>
                    <a:pt x="0" y="1154206"/>
                  </a:cubicBezTo>
                  <a:lnTo>
                    <a:pt x="0" y="52294"/>
                  </a:lnTo>
                  <a:cubicBezTo>
                    <a:pt x="0" y="23413"/>
                    <a:pt x="23413" y="0"/>
                    <a:pt x="52294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FFCB6B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19050"/>
              <a:ext cx="4318000" cy="1187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PARENT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waitpid()</a:t>
              </a:r>
            </a:p>
          </p:txBody>
        </p:sp>
      </p:grpSp>
      <p:sp>
        <p:nvSpPr>
          <p:cNvPr id="22" name="AutoShape 22"/>
          <p:cNvSpPr/>
          <p:nvPr/>
        </p:nvSpPr>
        <p:spPr>
          <a:xfrm>
            <a:off x="5143500" y="4876800"/>
            <a:ext cx="2286000" cy="1171575"/>
          </a:xfrm>
          <a:prstGeom prst="line">
            <a:avLst/>
          </a:prstGeom>
          <a:ln w="28575" cap="rnd">
            <a:solidFill>
              <a:srgbClr val="43C6E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3" name="Group 23"/>
          <p:cNvGrpSpPr/>
          <p:nvPr/>
        </p:nvGrpSpPr>
        <p:grpSpPr>
          <a:xfrm>
            <a:off x="7572375" y="5619750"/>
            <a:ext cx="3238500" cy="904875"/>
            <a:chOff x="0" y="0"/>
            <a:chExt cx="4318000" cy="12065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318000" cy="1206500"/>
            </a:xfrm>
            <a:custGeom>
              <a:avLst/>
              <a:gdLst/>
              <a:ahLst/>
              <a:cxnLst/>
              <a:rect l="l" t="t" r="r" b="b"/>
              <a:pathLst>
                <a:path w="4318000" h="1206500">
                  <a:moveTo>
                    <a:pt x="52294" y="0"/>
                  </a:moveTo>
                  <a:lnTo>
                    <a:pt x="4265706" y="0"/>
                  </a:lnTo>
                  <a:cubicBezTo>
                    <a:pt x="4294587" y="0"/>
                    <a:pt x="4318000" y="23413"/>
                    <a:pt x="4318000" y="52294"/>
                  </a:cubicBezTo>
                  <a:lnTo>
                    <a:pt x="4318000" y="1154206"/>
                  </a:lnTo>
                  <a:cubicBezTo>
                    <a:pt x="4318000" y="1183087"/>
                    <a:pt x="4294587" y="1206500"/>
                    <a:pt x="4265706" y="1206500"/>
                  </a:cubicBezTo>
                  <a:lnTo>
                    <a:pt x="52294" y="1206500"/>
                  </a:lnTo>
                  <a:cubicBezTo>
                    <a:pt x="23413" y="1206500"/>
                    <a:pt x="0" y="1183087"/>
                    <a:pt x="0" y="1154206"/>
                  </a:cubicBezTo>
                  <a:lnTo>
                    <a:pt x="0" y="52294"/>
                  </a:lnTo>
                  <a:cubicBezTo>
                    <a:pt x="0" y="23413"/>
                    <a:pt x="23413" y="0"/>
                    <a:pt x="52294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57E389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19050"/>
              <a:ext cx="4318000" cy="1187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CHILD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execvp()</a:t>
              </a:r>
            </a:p>
          </p:txBody>
        </p:sp>
      </p:grpSp>
      <p:sp>
        <p:nvSpPr>
          <p:cNvPr id="26" name="AutoShape 26"/>
          <p:cNvSpPr/>
          <p:nvPr/>
        </p:nvSpPr>
        <p:spPr>
          <a:xfrm>
            <a:off x="10810875" y="6076950"/>
            <a:ext cx="1666875" cy="0"/>
          </a:xfrm>
          <a:prstGeom prst="line">
            <a:avLst/>
          </a:prstGeom>
          <a:ln w="28575" cap="rnd">
            <a:solidFill>
              <a:srgbClr val="57E389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7" name="Group 27"/>
          <p:cNvGrpSpPr/>
          <p:nvPr/>
        </p:nvGrpSpPr>
        <p:grpSpPr>
          <a:xfrm>
            <a:off x="12620625" y="5524500"/>
            <a:ext cx="3905250" cy="1095375"/>
            <a:chOff x="0" y="0"/>
            <a:chExt cx="5207000" cy="14605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207000" cy="1460500"/>
            </a:xfrm>
            <a:custGeom>
              <a:avLst/>
              <a:gdLst/>
              <a:ahLst/>
              <a:cxnLst/>
              <a:rect l="l" t="t" r="r" b="b"/>
              <a:pathLst>
                <a:path w="5207000" h="1460500">
                  <a:moveTo>
                    <a:pt x="43366" y="0"/>
                  </a:moveTo>
                  <a:lnTo>
                    <a:pt x="5163634" y="0"/>
                  </a:lnTo>
                  <a:cubicBezTo>
                    <a:pt x="5187585" y="0"/>
                    <a:pt x="5207000" y="19416"/>
                    <a:pt x="5207000" y="43366"/>
                  </a:cubicBezTo>
                  <a:lnTo>
                    <a:pt x="5207000" y="1417134"/>
                  </a:lnTo>
                  <a:cubicBezTo>
                    <a:pt x="5207000" y="1441084"/>
                    <a:pt x="5187585" y="1460500"/>
                    <a:pt x="5163634" y="1460500"/>
                  </a:cubicBezTo>
                  <a:lnTo>
                    <a:pt x="43366" y="1460500"/>
                  </a:lnTo>
                  <a:cubicBezTo>
                    <a:pt x="19416" y="1460500"/>
                    <a:pt x="0" y="1441084"/>
                    <a:pt x="0" y="1417134"/>
                  </a:cubicBezTo>
                  <a:lnTo>
                    <a:pt x="0" y="43366"/>
                  </a:lnTo>
                  <a:cubicBezTo>
                    <a:pt x="0" y="19416"/>
                    <a:pt x="19416" y="0"/>
                    <a:pt x="43366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57E389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19050"/>
              <a:ext cx="5207000" cy="1441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LINUX PROGRAM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RUNS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239500" y="2190750"/>
            <a:ext cx="5905500" cy="2762250"/>
            <a:chOff x="0" y="0"/>
            <a:chExt cx="7874000" cy="36830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874000" cy="3683000"/>
            </a:xfrm>
            <a:custGeom>
              <a:avLst/>
              <a:gdLst/>
              <a:ahLst/>
              <a:cxnLst/>
              <a:rect l="l" t="t" r="r" b="b"/>
              <a:pathLst>
                <a:path w="7874000" h="3683000">
                  <a:moveTo>
                    <a:pt x="0" y="0"/>
                  </a:moveTo>
                  <a:lnTo>
                    <a:pt x="7874000" y="0"/>
                  </a:lnTo>
                  <a:lnTo>
                    <a:pt x="7874000" y="3683000"/>
                  </a:lnTo>
                  <a:lnTo>
                    <a:pt x="0" y="3683000"/>
                  </a:lnTo>
                  <a:close/>
                </a:path>
              </a:pathLst>
            </a:custGeom>
            <a:solidFill>
              <a:srgbClr val="05080B"/>
            </a:solidFill>
            <a:ln cap="sq">
              <a:noFill/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7874000" cy="372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1620500" y="2543175"/>
            <a:ext cx="5334000" cy="1823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F4F7FA"/>
                </a:solidFill>
                <a:latin typeface="IBM Plex Mono"/>
                <a:ea typeface="IBM Plex Mono"/>
                <a:cs typeface="IBM Plex Mono"/>
                <a:sym typeface="IBM Plex Mono"/>
              </a:rPr>
              <a:t>pid_t pid = fork();</a:t>
            </a:r>
          </a:p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F4F7FA"/>
                </a:solidFill>
                <a:latin typeface="IBM Plex Mono"/>
                <a:ea typeface="IBM Plex Mono"/>
                <a:cs typeface="IBM Plex Mono"/>
                <a:sym typeface="IBM Plex Mono"/>
              </a:rPr>
              <a:t>if (pid == 0) {</a:t>
            </a:r>
          </a:p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F4F7FA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 execvp(argv[0], argv);</a:t>
            </a:r>
          </a:p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F4F7FA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 _exit(127);</a:t>
            </a:r>
          </a:p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F4F7FA"/>
                </a:solidFill>
                <a:latin typeface="IBM Plex Mono"/>
                <a:ea typeface="IBM Plex Mono"/>
                <a:cs typeface="IBM Plex Mono"/>
                <a:sym typeface="IBM Plex Mono"/>
              </a:rPr>
              <a:t>}</a:t>
            </a:r>
          </a:p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F4F7FA"/>
                </a:solidFill>
                <a:latin typeface="IBM Plex Mono"/>
                <a:ea typeface="IBM Plex Mono"/>
                <a:cs typeface="IBM Plex Mono"/>
                <a:sym typeface="IBM Plex Mono"/>
              </a:rPr>
              <a:t>waitpid(pid, &amp;status, 0);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619250" y="8105775"/>
            <a:ext cx="14287500" cy="342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9BACBA"/>
                </a:solidFill>
                <a:latin typeface="Open Sans"/>
                <a:ea typeface="Open Sans"/>
                <a:cs typeface="Open Sans"/>
                <a:sym typeface="Open Sans"/>
              </a:rPr>
              <a:t>fork() duplicates · execvp() replaces · waitpid() synchronizes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14400" y="9791700"/>
            <a:ext cx="164592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74"/>
              </a:lnSpc>
            </a:pPr>
            <a:r>
              <a:rPr lang="en-US" sz="1125" b="1" spc="89">
                <a:solidFill>
                  <a:srgbClr val="9BACB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INTERACTIVE PROCESS MANAGEMENT SYSTEM     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23875"/>
            <a:ext cx="857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43C6E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SYSTEMS PROGRAMMING  /  07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038225"/>
            <a:ext cx="14287500" cy="587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1">
                <a:solidFill>
                  <a:srgbClr val="F4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Interactive Process Control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1809750"/>
            <a:ext cx="16459200" cy="19050"/>
            <a:chOff x="0" y="0"/>
            <a:chExt cx="21945600" cy="25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5400"/>
            </a:xfrm>
            <a:custGeom>
              <a:avLst/>
              <a:gdLst/>
              <a:ahLst/>
              <a:cxnLst/>
              <a:rect l="l" t="t" r="r" b="b"/>
              <a:pathLst>
                <a:path w="21945600" h="254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B3A47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00125" y="2286000"/>
            <a:ext cx="3810000" cy="952500"/>
            <a:chOff x="0" y="0"/>
            <a:chExt cx="5080000" cy="127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080000" cy="1270000"/>
            </a:xfrm>
            <a:custGeom>
              <a:avLst/>
              <a:gdLst/>
              <a:ahLst/>
              <a:cxnLst/>
              <a:rect l="l" t="t" r="r" b="b"/>
              <a:pathLst>
                <a:path w="5080000" h="1270000">
                  <a:moveTo>
                    <a:pt x="0" y="0"/>
                  </a:moveTo>
                  <a:lnTo>
                    <a:pt x="5080000" y="0"/>
                  </a:lnTo>
                  <a:lnTo>
                    <a:pt x="50800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151D26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080000" cy="130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238750" y="2286000"/>
            <a:ext cx="3810000" cy="952500"/>
            <a:chOff x="0" y="0"/>
            <a:chExt cx="5080000" cy="1270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080000" cy="1270000"/>
            </a:xfrm>
            <a:custGeom>
              <a:avLst/>
              <a:gdLst/>
              <a:ahLst/>
              <a:cxnLst/>
              <a:rect l="l" t="t" r="r" b="b"/>
              <a:pathLst>
                <a:path w="5080000" h="1270000">
                  <a:moveTo>
                    <a:pt x="0" y="0"/>
                  </a:moveTo>
                  <a:lnTo>
                    <a:pt x="5080000" y="0"/>
                  </a:lnTo>
                  <a:lnTo>
                    <a:pt x="50800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151D26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5080000" cy="130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477375" y="2286000"/>
            <a:ext cx="3810000" cy="952500"/>
            <a:chOff x="0" y="0"/>
            <a:chExt cx="5080000" cy="127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080000" cy="1270000"/>
            </a:xfrm>
            <a:custGeom>
              <a:avLst/>
              <a:gdLst/>
              <a:ahLst/>
              <a:cxnLst/>
              <a:rect l="l" t="t" r="r" b="b"/>
              <a:pathLst>
                <a:path w="5080000" h="1270000">
                  <a:moveTo>
                    <a:pt x="0" y="0"/>
                  </a:moveTo>
                  <a:lnTo>
                    <a:pt x="5080000" y="0"/>
                  </a:lnTo>
                  <a:lnTo>
                    <a:pt x="50800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151D26"/>
            </a:solid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5080000" cy="130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716000" y="2286000"/>
            <a:ext cx="3810000" cy="952500"/>
            <a:chOff x="0" y="0"/>
            <a:chExt cx="5080000" cy="1270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080000" cy="1270000"/>
            </a:xfrm>
            <a:custGeom>
              <a:avLst/>
              <a:gdLst/>
              <a:ahLst/>
              <a:cxnLst/>
              <a:rect l="l" t="t" r="r" b="b"/>
              <a:pathLst>
                <a:path w="5080000" h="1270000">
                  <a:moveTo>
                    <a:pt x="0" y="0"/>
                  </a:moveTo>
                  <a:lnTo>
                    <a:pt x="5080000" y="0"/>
                  </a:lnTo>
                  <a:lnTo>
                    <a:pt x="50800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151D26"/>
            </a:solidFill>
            <a:ln cap="sq">
              <a:noFill/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5080000" cy="130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00125" y="3571875"/>
            <a:ext cx="3810000" cy="952500"/>
            <a:chOff x="0" y="0"/>
            <a:chExt cx="5080000" cy="1270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080000" cy="1270000"/>
            </a:xfrm>
            <a:custGeom>
              <a:avLst/>
              <a:gdLst/>
              <a:ahLst/>
              <a:cxnLst/>
              <a:rect l="l" t="t" r="r" b="b"/>
              <a:pathLst>
                <a:path w="5080000" h="1270000">
                  <a:moveTo>
                    <a:pt x="0" y="0"/>
                  </a:moveTo>
                  <a:lnTo>
                    <a:pt x="5080000" y="0"/>
                  </a:lnTo>
                  <a:lnTo>
                    <a:pt x="50800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151D26"/>
            </a:solidFill>
            <a:ln cap="sq">
              <a:noFill/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5080000" cy="130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238750" y="3571875"/>
            <a:ext cx="3810000" cy="952500"/>
            <a:chOff x="0" y="0"/>
            <a:chExt cx="5080000" cy="1270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080000" cy="1270000"/>
            </a:xfrm>
            <a:custGeom>
              <a:avLst/>
              <a:gdLst/>
              <a:ahLst/>
              <a:cxnLst/>
              <a:rect l="l" t="t" r="r" b="b"/>
              <a:pathLst>
                <a:path w="5080000" h="1270000">
                  <a:moveTo>
                    <a:pt x="0" y="0"/>
                  </a:moveTo>
                  <a:lnTo>
                    <a:pt x="5080000" y="0"/>
                  </a:lnTo>
                  <a:lnTo>
                    <a:pt x="50800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151D26"/>
            </a:solidFill>
            <a:ln cap="sq">
              <a:noFill/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5080000" cy="130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477375" y="3571875"/>
            <a:ext cx="3810000" cy="952500"/>
            <a:chOff x="0" y="0"/>
            <a:chExt cx="5080000" cy="1270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080000" cy="1270000"/>
            </a:xfrm>
            <a:custGeom>
              <a:avLst/>
              <a:gdLst/>
              <a:ahLst/>
              <a:cxnLst/>
              <a:rect l="l" t="t" r="r" b="b"/>
              <a:pathLst>
                <a:path w="5080000" h="1270000">
                  <a:moveTo>
                    <a:pt x="0" y="0"/>
                  </a:moveTo>
                  <a:lnTo>
                    <a:pt x="5080000" y="0"/>
                  </a:lnTo>
                  <a:lnTo>
                    <a:pt x="50800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151D26"/>
            </a:solidFill>
            <a:ln cap="sq">
              <a:noFill/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5080000" cy="130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238250" y="2457450"/>
            <a:ext cx="1714500" cy="297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57E389"/>
                </a:solidFill>
                <a:latin typeface="IBM Plex Mono"/>
                <a:ea typeface="IBM Plex Mono"/>
                <a:cs typeface="IBM Plex Mono"/>
                <a:sym typeface="IBM Plex Mono"/>
              </a:rPr>
              <a:t>RUN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809875" y="2495550"/>
            <a:ext cx="171450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25"/>
              </a:lnSpc>
            </a:pPr>
            <a:r>
              <a:rPr lang="en-US" sz="1500">
                <a:solidFill>
                  <a:srgbClr val="9BACBA"/>
                </a:solidFill>
                <a:latin typeface="Open Sans"/>
                <a:ea typeface="Open Sans"/>
                <a:cs typeface="Open Sans"/>
                <a:sym typeface="Open Sans"/>
              </a:rPr>
              <a:t>foreground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476875" y="2457450"/>
            <a:ext cx="1714500" cy="297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57E389"/>
                </a:solidFill>
                <a:latin typeface="IBM Plex Mono"/>
                <a:ea typeface="IBM Plex Mono"/>
                <a:cs typeface="IBM Plex Mono"/>
                <a:sym typeface="IBM Plex Mono"/>
              </a:rPr>
              <a:t>RUNBG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048500" y="2495550"/>
            <a:ext cx="171450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25"/>
              </a:lnSpc>
            </a:pPr>
            <a:r>
              <a:rPr lang="en-US" sz="1500">
                <a:solidFill>
                  <a:srgbClr val="9BACBA"/>
                </a:solidFill>
                <a:latin typeface="Open Sans"/>
                <a:ea typeface="Open Sans"/>
                <a:cs typeface="Open Sans"/>
                <a:sym typeface="Open Sans"/>
              </a:rPr>
              <a:t>background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715500" y="2457450"/>
            <a:ext cx="1714500" cy="297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57E389"/>
                </a:solidFill>
                <a:latin typeface="IBM Plex Mono"/>
                <a:ea typeface="IBM Plex Mono"/>
                <a:cs typeface="IBM Plex Mono"/>
                <a:sym typeface="IBM Plex Mono"/>
              </a:rPr>
              <a:t>INFO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287125" y="2495550"/>
            <a:ext cx="171450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25"/>
              </a:lnSpc>
            </a:pPr>
            <a:r>
              <a:rPr lang="en-US" sz="1500">
                <a:solidFill>
                  <a:srgbClr val="9BACBA"/>
                </a:solidFill>
                <a:latin typeface="Open Sans"/>
                <a:ea typeface="Open Sans"/>
                <a:cs typeface="Open Sans"/>
                <a:sym typeface="Open Sans"/>
              </a:rPr>
              <a:t>details / status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954125" y="2457450"/>
            <a:ext cx="1714500" cy="297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57E389"/>
                </a:solidFill>
                <a:latin typeface="IBM Plex Mono"/>
                <a:ea typeface="IBM Plex Mono"/>
                <a:cs typeface="IBM Plex Mono"/>
                <a:sym typeface="IBM Plex Mono"/>
              </a:rPr>
              <a:t>PAUSE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5525750" y="2495550"/>
            <a:ext cx="171450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25"/>
              </a:lnSpc>
            </a:pPr>
            <a:r>
              <a:rPr lang="en-US" sz="1500">
                <a:solidFill>
                  <a:srgbClr val="9BACBA"/>
                </a:solidFill>
                <a:latin typeface="Open Sans"/>
                <a:ea typeface="Open Sans"/>
                <a:cs typeface="Open Sans"/>
                <a:sym typeface="Open Sans"/>
              </a:rPr>
              <a:t>SIGSTOP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38250" y="3743325"/>
            <a:ext cx="1714500" cy="297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57E389"/>
                </a:solidFill>
                <a:latin typeface="IBM Plex Mono"/>
                <a:ea typeface="IBM Plex Mono"/>
                <a:cs typeface="IBM Plex Mono"/>
                <a:sym typeface="IBM Plex Mono"/>
              </a:rPr>
              <a:t>RESUME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809875" y="3781425"/>
            <a:ext cx="171450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25"/>
              </a:lnSpc>
            </a:pPr>
            <a:r>
              <a:rPr lang="en-US" sz="1500">
                <a:solidFill>
                  <a:srgbClr val="9BACBA"/>
                </a:solidFill>
                <a:latin typeface="Open Sans"/>
                <a:ea typeface="Open Sans"/>
                <a:cs typeface="Open Sans"/>
                <a:sym typeface="Open Sans"/>
              </a:rPr>
              <a:t>SIGCONT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476875" y="3743325"/>
            <a:ext cx="1714500" cy="297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57E389"/>
                </a:solidFill>
                <a:latin typeface="IBM Plex Mono"/>
                <a:ea typeface="IBM Plex Mono"/>
                <a:cs typeface="IBM Plex Mono"/>
                <a:sym typeface="IBM Plex Mono"/>
              </a:rPr>
              <a:t>TERMINATE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048500" y="3781425"/>
            <a:ext cx="171450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25"/>
              </a:lnSpc>
            </a:pPr>
            <a:r>
              <a:rPr lang="en-US" sz="1500">
                <a:solidFill>
                  <a:srgbClr val="9BACBA"/>
                </a:solidFill>
                <a:latin typeface="Open Sans"/>
                <a:ea typeface="Open Sans"/>
                <a:cs typeface="Open Sans"/>
                <a:sym typeface="Open Sans"/>
              </a:rPr>
              <a:t>SIGTERM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715500" y="3743325"/>
            <a:ext cx="1714500" cy="297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57E389"/>
                </a:solidFill>
                <a:latin typeface="IBM Plex Mono"/>
                <a:ea typeface="IBM Plex Mono"/>
                <a:cs typeface="IBM Plex Mono"/>
                <a:sym typeface="IBM Plex Mono"/>
              </a:rPr>
              <a:t>KILL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287125" y="3781425"/>
            <a:ext cx="171450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25"/>
              </a:lnSpc>
            </a:pPr>
            <a:r>
              <a:rPr lang="en-US" sz="1500">
                <a:solidFill>
                  <a:srgbClr val="9BACBA"/>
                </a:solidFill>
                <a:latin typeface="Open Sans"/>
                <a:ea typeface="Open Sans"/>
                <a:cs typeface="Open Sans"/>
                <a:sym typeface="Open Sans"/>
              </a:rPr>
              <a:t>SIGKILL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1809750" y="6667500"/>
            <a:ext cx="2476500" cy="904875"/>
            <a:chOff x="0" y="0"/>
            <a:chExt cx="3302000" cy="12065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3302000" cy="1206500"/>
            </a:xfrm>
            <a:custGeom>
              <a:avLst/>
              <a:gdLst/>
              <a:ahLst/>
              <a:cxnLst/>
              <a:rect l="l" t="t" r="r" b="b"/>
              <a:pathLst>
                <a:path w="3302000" h="1206500">
                  <a:moveTo>
                    <a:pt x="68385" y="0"/>
                  </a:moveTo>
                  <a:lnTo>
                    <a:pt x="3233615" y="0"/>
                  </a:lnTo>
                  <a:cubicBezTo>
                    <a:pt x="3251752" y="0"/>
                    <a:pt x="3269146" y="7205"/>
                    <a:pt x="3281971" y="20029"/>
                  </a:cubicBezTo>
                  <a:cubicBezTo>
                    <a:pt x="3294795" y="32854"/>
                    <a:pt x="3302000" y="50248"/>
                    <a:pt x="3302000" y="68385"/>
                  </a:cubicBezTo>
                  <a:lnTo>
                    <a:pt x="3302000" y="1138115"/>
                  </a:lnTo>
                  <a:cubicBezTo>
                    <a:pt x="3302000" y="1156252"/>
                    <a:pt x="3294795" y="1173646"/>
                    <a:pt x="3281971" y="1186471"/>
                  </a:cubicBezTo>
                  <a:cubicBezTo>
                    <a:pt x="3269146" y="1199295"/>
                    <a:pt x="3251752" y="1206500"/>
                    <a:pt x="3233615" y="1206500"/>
                  </a:cubicBezTo>
                  <a:lnTo>
                    <a:pt x="68385" y="1206500"/>
                  </a:lnTo>
                  <a:cubicBezTo>
                    <a:pt x="50248" y="1206500"/>
                    <a:pt x="32854" y="1199295"/>
                    <a:pt x="20029" y="1186471"/>
                  </a:cubicBezTo>
                  <a:cubicBezTo>
                    <a:pt x="7205" y="1173646"/>
                    <a:pt x="0" y="1156252"/>
                    <a:pt x="0" y="1138115"/>
                  </a:cubicBezTo>
                  <a:lnTo>
                    <a:pt x="0" y="68385"/>
                  </a:lnTo>
                  <a:cubicBezTo>
                    <a:pt x="0" y="50248"/>
                    <a:pt x="7205" y="32854"/>
                    <a:pt x="20029" y="20029"/>
                  </a:cubicBezTo>
                  <a:cubicBezTo>
                    <a:pt x="32854" y="7205"/>
                    <a:pt x="50248" y="0"/>
                    <a:pt x="68385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57E389"/>
              </a:solidFill>
              <a:prstDash val="solid"/>
              <a:miter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0" y="19050"/>
              <a:ext cx="3302000" cy="1187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CREATE</a:t>
              </a:r>
            </a:p>
          </p:txBody>
        </p:sp>
      </p:grpSp>
      <p:sp>
        <p:nvSpPr>
          <p:cNvPr id="45" name="AutoShape 45"/>
          <p:cNvSpPr/>
          <p:nvPr/>
        </p:nvSpPr>
        <p:spPr>
          <a:xfrm>
            <a:off x="4286250" y="7124700"/>
            <a:ext cx="1333500" cy="0"/>
          </a:xfrm>
          <a:prstGeom prst="line">
            <a:avLst/>
          </a:prstGeom>
          <a:ln w="28575" cap="rnd">
            <a:solidFill>
              <a:srgbClr val="43C6E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46" name="Group 46"/>
          <p:cNvGrpSpPr/>
          <p:nvPr/>
        </p:nvGrpSpPr>
        <p:grpSpPr>
          <a:xfrm>
            <a:off x="5810250" y="6667500"/>
            <a:ext cx="2476500" cy="904875"/>
            <a:chOff x="0" y="0"/>
            <a:chExt cx="3302000" cy="12065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3302000" cy="1206500"/>
            </a:xfrm>
            <a:custGeom>
              <a:avLst/>
              <a:gdLst/>
              <a:ahLst/>
              <a:cxnLst/>
              <a:rect l="l" t="t" r="r" b="b"/>
              <a:pathLst>
                <a:path w="3302000" h="1206500">
                  <a:moveTo>
                    <a:pt x="68385" y="0"/>
                  </a:moveTo>
                  <a:lnTo>
                    <a:pt x="3233615" y="0"/>
                  </a:lnTo>
                  <a:cubicBezTo>
                    <a:pt x="3251752" y="0"/>
                    <a:pt x="3269146" y="7205"/>
                    <a:pt x="3281971" y="20029"/>
                  </a:cubicBezTo>
                  <a:cubicBezTo>
                    <a:pt x="3294795" y="32854"/>
                    <a:pt x="3302000" y="50248"/>
                    <a:pt x="3302000" y="68385"/>
                  </a:cubicBezTo>
                  <a:lnTo>
                    <a:pt x="3302000" y="1138115"/>
                  </a:lnTo>
                  <a:cubicBezTo>
                    <a:pt x="3302000" y="1156252"/>
                    <a:pt x="3294795" y="1173646"/>
                    <a:pt x="3281971" y="1186471"/>
                  </a:cubicBezTo>
                  <a:cubicBezTo>
                    <a:pt x="3269146" y="1199295"/>
                    <a:pt x="3251752" y="1206500"/>
                    <a:pt x="3233615" y="1206500"/>
                  </a:cubicBezTo>
                  <a:lnTo>
                    <a:pt x="68385" y="1206500"/>
                  </a:lnTo>
                  <a:cubicBezTo>
                    <a:pt x="50248" y="1206500"/>
                    <a:pt x="32854" y="1199295"/>
                    <a:pt x="20029" y="1186471"/>
                  </a:cubicBezTo>
                  <a:cubicBezTo>
                    <a:pt x="7205" y="1173646"/>
                    <a:pt x="0" y="1156252"/>
                    <a:pt x="0" y="1138115"/>
                  </a:cubicBezTo>
                  <a:lnTo>
                    <a:pt x="0" y="68385"/>
                  </a:lnTo>
                  <a:cubicBezTo>
                    <a:pt x="0" y="50248"/>
                    <a:pt x="7205" y="32854"/>
                    <a:pt x="20029" y="20029"/>
                  </a:cubicBezTo>
                  <a:cubicBezTo>
                    <a:pt x="32854" y="7205"/>
                    <a:pt x="50248" y="0"/>
                    <a:pt x="68385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57E389"/>
              </a:solidFill>
              <a:prstDash val="solid"/>
              <a:miter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0" y="19050"/>
              <a:ext cx="3302000" cy="1187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RUNNING</a:t>
              </a:r>
            </a:p>
          </p:txBody>
        </p:sp>
      </p:grpSp>
      <p:sp>
        <p:nvSpPr>
          <p:cNvPr id="49" name="AutoShape 49"/>
          <p:cNvSpPr/>
          <p:nvPr/>
        </p:nvSpPr>
        <p:spPr>
          <a:xfrm>
            <a:off x="8286750" y="7124700"/>
            <a:ext cx="1428750" cy="0"/>
          </a:xfrm>
          <a:prstGeom prst="line">
            <a:avLst/>
          </a:prstGeom>
          <a:ln w="28575" cap="rnd">
            <a:solidFill>
              <a:srgbClr val="43C6E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50" name="Group 50"/>
          <p:cNvGrpSpPr/>
          <p:nvPr/>
        </p:nvGrpSpPr>
        <p:grpSpPr>
          <a:xfrm>
            <a:off x="9906000" y="6667500"/>
            <a:ext cx="2476500" cy="904875"/>
            <a:chOff x="0" y="0"/>
            <a:chExt cx="3302000" cy="12065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3302000" cy="1206500"/>
            </a:xfrm>
            <a:custGeom>
              <a:avLst/>
              <a:gdLst/>
              <a:ahLst/>
              <a:cxnLst/>
              <a:rect l="l" t="t" r="r" b="b"/>
              <a:pathLst>
                <a:path w="3302000" h="1206500">
                  <a:moveTo>
                    <a:pt x="68385" y="0"/>
                  </a:moveTo>
                  <a:lnTo>
                    <a:pt x="3233615" y="0"/>
                  </a:lnTo>
                  <a:cubicBezTo>
                    <a:pt x="3251752" y="0"/>
                    <a:pt x="3269146" y="7205"/>
                    <a:pt x="3281971" y="20029"/>
                  </a:cubicBezTo>
                  <a:cubicBezTo>
                    <a:pt x="3294795" y="32854"/>
                    <a:pt x="3302000" y="50248"/>
                    <a:pt x="3302000" y="68385"/>
                  </a:cubicBezTo>
                  <a:lnTo>
                    <a:pt x="3302000" y="1138115"/>
                  </a:lnTo>
                  <a:cubicBezTo>
                    <a:pt x="3302000" y="1156252"/>
                    <a:pt x="3294795" y="1173646"/>
                    <a:pt x="3281971" y="1186471"/>
                  </a:cubicBezTo>
                  <a:cubicBezTo>
                    <a:pt x="3269146" y="1199295"/>
                    <a:pt x="3251752" y="1206500"/>
                    <a:pt x="3233615" y="1206500"/>
                  </a:cubicBezTo>
                  <a:lnTo>
                    <a:pt x="68385" y="1206500"/>
                  </a:lnTo>
                  <a:cubicBezTo>
                    <a:pt x="50248" y="1206500"/>
                    <a:pt x="32854" y="1199295"/>
                    <a:pt x="20029" y="1186471"/>
                  </a:cubicBezTo>
                  <a:cubicBezTo>
                    <a:pt x="7205" y="1173646"/>
                    <a:pt x="0" y="1156252"/>
                    <a:pt x="0" y="1138115"/>
                  </a:cubicBezTo>
                  <a:lnTo>
                    <a:pt x="0" y="68385"/>
                  </a:lnTo>
                  <a:cubicBezTo>
                    <a:pt x="0" y="50248"/>
                    <a:pt x="7205" y="32854"/>
                    <a:pt x="20029" y="20029"/>
                  </a:cubicBezTo>
                  <a:cubicBezTo>
                    <a:pt x="32854" y="7205"/>
                    <a:pt x="50248" y="0"/>
                    <a:pt x="68385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FFCB6B"/>
              </a:solidFill>
              <a:prstDash val="solid"/>
              <a:miter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0" y="19050"/>
              <a:ext cx="3302000" cy="1187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PAUSED</a:t>
              </a:r>
            </a:p>
          </p:txBody>
        </p:sp>
      </p:grpSp>
      <p:sp>
        <p:nvSpPr>
          <p:cNvPr id="53" name="AutoShape 53"/>
          <p:cNvSpPr/>
          <p:nvPr/>
        </p:nvSpPr>
        <p:spPr>
          <a:xfrm>
            <a:off x="12382500" y="7124700"/>
            <a:ext cx="1428750" cy="0"/>
          </a:xfrm>
          <a:prstGeom prst="line">
            <a:avLst/>
          </a:prstGeom>
          <a:ln w="28575" cap="rnd">
            <a:solidFill>
              <a:srgbClr val="FF6B7A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54" name="Group 54"/>
          <p:cNvGrpSpPr/>
          <p:nvPr/>
        </p:nvGrpSpPr>
        <p:grpSpPr>
          <a:xfrm>
            <a:off x="14001750" y="6667500"/>
            <a:ext cx="2476500" cy="904875"/>
            <a:chOff x="0" y="0"/>
            <a:chExt cx="3302000" cy="12065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3302000" cy="1206500"/>
            </a:xfrm>
            <a:custGeom>
              <a:avLst/>
              <a:gdLst/>
              <a:ahLst/>
              <a:cxnLst/>
              <a:rect l="l" t="t" r="r" b="b"/>
              <a:pathLst>
                <a:path w="3302000" h="1206500">
                  <a:moveTo>
                    <a:pt x="68385" y="0"/>
                  </a:moveTo>
                  <a:lnTo>
                    <a:pt x="3233615" y="0"/>
                  </a:lnTo>
                  <a:cubicBezTo>
                    <a:pt x="3251752" y="0"/>
                    <a:pt x="3269146" y="7205"/>
                    <a:pt x="3281971" y="20029"/>
                  </a:cubicBezTo>
                  <a:cubicBezTo>
                    <a:pt x="3294795" y="32854"/>
                    <a:pt x="3302000" y="50248"/>
                    <a:pt x="3302000" y="68385"/>
                  </a:cubicBezTo>
                  <a:lnTo>
                    <a:pt x="3302000" y="1138115"/>
                  </a:lnTo>
                  <a:cubicBezTo>
                    <a:pt x="3302000" y="1156252"/>
                    <a:pt x="3294795" y="1173646"/>
                    <a:pt x="3281971" y="1186471"/>
                  </a:cubicBezTo>
                  <a:cubicBezTo>
                    <a:pt x="3269146" y="1199295"/>
                    <a:pt x="3251752" y="1206500"/>
                    <a:pt x="3233615" y="1206500"/>
                  </a:cubicBezTo>
                  <a:lnTo>
                    <a:pt x="68385" y="1206500"/>
                  </a:lnTo>
                  <a:cubicBezTo>
                    <a:pt x="50248" y="1206500"/>
                    <a:pt x="32854" y="1199295"/>
                    <a:pt x="20029" y="1186471"/>
                  </a:cubicBezTo>
                  <a:cubicBezTo>
                    <a:pt x="7205" y="1173646"/>
                    <a:pt x="0" y="1156252"/>
                    <a:pt x="0" y="1138115"/>
                  </a:cubicBezTo>
                  <a:lnTo>
                    <a:pt x="0" y="68385"/>
                  </a:lnTo>
                  <a:cubicBezTo>
                    <a:pt x="0" y="50248"/>
                    <a:pt x="7205" y="32854"/>
                    <a:pt x="20029" y="20029"/>
                  </a:cubicBezTo>
                  <a:cubicBezTo>
                    <a:pt x="32854" y="7205"/>
                    <a:pt x="50248" y="0"/>
                    <a:pt x="68385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FF6B7A"/>
              </a:solidFill>
              <a:prstDash val="solid"/>
              <a:miter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0" y="19050"/>
              <a:ext cx="3302000" cy="1187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TERMINATED</a:t>
              </a:r>
            </a:p>
          </p:txBody>
        </p:sp>
      </p:grpSp>
      <p:sp>
        <p:nvSpPr>
          <p:cNvPr id="57" name="AutoShape 57"/>
          <p:cNvSpPr/>
          <p:nvPr/>
        </p:nvSpPr>
        <p:spPr>
          <a:xfrm flipH="1">
            <a:off x="7048500" y="7762875"/>
            <a:ext cx="4095750" cy="0"/>
          </a:xfrm>
          <a:prstGeom prst="line">
            <a:avLst/>
          </a:prstGeom>
          <a:ln w="28575" cap="rnd">
            <a:solidFill>
              <a:srgbClr val="57E389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58" name="TextBox 58"/>
          <p:cNvSpPr txBox="1"/>
          <p:nvPr/>
        </p:nvSpPr>
        <p:spPr>
          <a:xfrm>
            <a:off x="914400" y="9791700"/>
            <a:ext cx="164592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74"/>
              </a:lnSpc>
            </a:pPr>
            <a:r>
              <a:rPr lang="en-US" sz="1125" b="1" spc="89">
                <a:solidFill>
                  <a:srgbClr val="9BACB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INTERACTIVE PROCESS MANAGEMENT SYSTEM     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23875"/>
            <a:ext cx="857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43C6E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SYSTEMS PROGRAMMING  /  08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038225"/>
            <a:ext cx="14287500" cy="587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1">
                <a:solidFill>
                  <a:srgbClr val="F4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Signal Handling &amp; Process Control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1809750"/>
            <a:ext cx="16459200" cy="19050"/>
            <a:chOff x="0" y="0"/>
            <a:chExt cx="21945600" cy="25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5400"/>
            </a:xfrm>
            <a:custGeom>
              <a:avLst/>
              <a:gdLst/>
              <a:ahLst/>
              <a:cxnLst/>
              <a:rect l="l" t="t" r="r" b="b"/>
              <a:pathLst>
                <a:path w="21945600" h="254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B3A47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428750" y="4048125"/>
            <a:ext cx="3810000" cy="1428750"/>
            <a:chOff x="0" y="0"/>
            <a:chExt cx="5080000" cy="1905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080000" cy="1905000"/>
            </a:xfrm>
            <a:custGeom>
              <a:avLst/>
              <a:gdLst/>
              <a:ahLst/>
              <a:cxnLst/>
              <a:rect l="l" t="t" r="r" b="b"/>
              <a:pathLst>
                <a:path w="5080000" h="1905000">
                  <a:moveTo>
                    <a:pt x="44450" y="0"/>
                  </a:moveTo>
                  <a:lnTo>
                    <a:pt x="5035550" y="0"/>
                  </a:lnTo>
                  <a:cubicBezTo>
                    <a:pt x="5060099" y="0"/>
                    <a:pt x="5080000" y="19901"/>
                    <a:pt x="5080000" y="44450"/>
                  </a:cubicBezTo>
                  <a:lnTo>
                    <a:pt x="5080000" y="1860550"/>
                  </a:lnTo>
                  <a:cubicBezTo>
                    <a:pt x="5080000" y="1885099"/>
                    <a:pt x="5060099" y="1905000"/>
                    <a:pt x="5035550" y="1905000"/>
                  </a:cubicBezTo>
                  <a:lnTo>
                    <a:pt x="44450" y="1905000"/>
                  </a:lnTo>
                  <a:cubicBezTo>
                    <a:pt x="19901" y="1905000"/>
                    <a:pt x="0" y="1885099"/>
                    <a:pt x="0" y="1860550"/>
                  </a:cubicBezTo>
                  <a:lnTo>
                    <a:pt x="0" y="44450"/>
                  </a:lnTo>
                  <a:cubicBezTo>
                    <a:pt x="0" y="19901"/>
                    <a:pt x="19901" y="0"/>
                    <a:pt x="44450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57E389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19050"/>
              <a:ext cx="5080000" cy="1885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PROCESS MANAGER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kill(pid, signal)</a:t>
              </a:r>
            </a:p>
          </p:txBody>
        </p:sp>
      </p:grpSp>
      <p:sp>
        <p:nvSpPr>
          <p:cNvPr id="10" name="AutoShape 10"/>
          <p:cNvSpPr/>
          <p:nvPr/>
        </p:nvSpPr>
        <p:spPr>
          <a:xfrm>
            <a:off x="5238750" y="4762500"/>
            <a:ext cx="2286000" cy="0"/>
          </a:xfrm>
          <a:prstGeom prst="line">
            <a:avLst/>
          </a:prstGeom>
          <a:ln w="28575" cap="rnd">
            <a:solidFill>
              <a:srgbClr val="57E389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1" name="Group 11"/>
          <p:cNvGrpSpPr/>
          <p:nvPr/>
        </p:nvGrpSpPr>
        <p:grpSpPr>
          <a:xfrm>
            <a:off x="7667625" y="4048125"/>
            <a:ext cx="3524250" cy="1428750"/>
            <a:chOff x="0" y="0"/>
            <a:chExt cx="4699000" cy="1905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699000" cy="1905000"/>
            </a:xfrm>
            <a:custGeom>
              <a:avLst/>
              <a:gdLst/>
              <a:ahLst/>
              <a:cxnLst/>
              <a:rect l="l" t="t" r="r" b="b"/>
              <a:pathLst>
                <a:path w="4699000" h="1905000">
                  <a:moveTo>
                    <a:pt x="48054" y="0"/>
                  </a:moveTo>
                  <a:lnTo>
                    <a:pt x="4650946" y="0"/>
                  </a:lnTo>
                  <a:cubicBezTo>
                    <a:pt x="4663691" y="0"/>
                    <a:pt x="4675913" y="5063"/>
                    <a:pt x="4684925" y="14075"/>
                  </a:cubicBezTo>
                  <a:cubicBezTo>
                    <a:pt x="4693937" y="23087"/>
                    <a:pt x="4699000" y="35309"/>
                    <a:pt x="4699000" y="48054"/>
                  </a:cubicBezTo>
                  <a:lnTo>
                    <a:pt x="4699000" y="1856946"/>
                  </a:lnTo>
                  <a:cubicBezTo>
                    <a:pt x="4699000" y="1869691"/>
                    <a:pt x="4693937" y="1881913"/>
                    <a:pt x="4684925" y="1890925"/>
                  </a:cubicBezTo>
                  <a:cubicBezTo>
                    <a:pt x="4675913" y="1899937"/>
                    <a:pt x="4663691" y="1905000"/>
                    <a:pt x="4650946" y="1905000"/>
                  </a:cubicBezTo>
                  <a:lnTo>
                    <a:pt x="48054" y="1905000"/>
                  </a:lnTo>
                  <a:cubicBezTo>
                    <a:pt x="35309" y="1905000"/>
                    <a:pt x="23087" y="1899937"/>
                    <a:pt x="14075" y="1890925"/>
                  </a:cubicBezTo>
                  <a:cubicBezTo>
                    <a:pt x="5063" y="1881913"/>
                    <a:pt x="0" y="1869691"/>
                    <a:pt x="0" y="1856946"/>
                  </a:cubicBezTo>
                  <a:lnTo>
                    <a:pt x="0" y="48054"/>
                  </a:lnTo>
                  <a:cubicBezTo>
                    <a:pt x="0" y="35309"/>
                    <a:pt x="5063" y="23087"/>
                    <a:pt x="14075" y="14075"/>
                  </a:cubicBezTo>
                  <a:cubicBezTo>
                    <a:pt x="23087" y="5063"/>
                    <a:pt x="35309" y="0"/>
                    <a:pt x="48054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43C6E8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19050"/>
              <a:ext cx="4699000" cy="1885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TARGET PROCESS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 flipV="1">
            <a:off x="11191875" y="3381375"/>
            <a:ext cx="381000" cy="1381125"/>
          </a:xfrm>
          <a:prstGeom prst="line">
            <a:avLst/>
          </a:prstGeom>
          <a:ln w="28575" cap="rnd">
            <a:solidFill>
              <a:srgbClr val="43C6E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5" name="Group 15"/>
          <p:cNvGrpSpPr/>
          <p:nvPr/>
        </p:nvGrpSpPr>
        <p:grpSpPr>
          <a:xfrm>
            <a:off x="11715750" y="2857500"/>
            <a:ext cx="2381250" cy="1047750"/>
            <a:chOff x="0" y="0"/>
            <a:chExt cx="3175000" cy="1397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175000" cy="1397000"/>
            </a:xfrm>
            <a:custGeom>
              <a:avLst/>
              <a:gdLst/>
              <a:ahLst/>
              <a:cxnLst/>
              <a:rect l="l" t="t" r="r" b="b"/>
              <a:pathLst>
                <a:path w="3175000" h="1397000">
                  <a:moveTo>
                    <a:pt x="71120" y="0"/>
                  </a:moveTo>
                  <a:lnTo>
                    <a:pt x="3103880" y="0"/>
                  </a:lnTo>
                  <a:cubicBezTo>
                    <a:pt x="3143159" y="0"/>
                    <a:pt x="3175000" y="31842"/>
                    <a:pt x="3175000" y="71120"/>
                  </a:cubicBezTo>
                  <a:lnTo>
                    <a:pt x="3175000" y="1325880"/>
                  </a:lnTo>
                  <a:cubicBezTo>
                    <a:pt x="3175000" y="1365159"/>
                    <a:pt x="3143159" y="1397000"/>
                    <a:pt x="3103880" y="1397000"/>
                  </a:cubicBezTo>
                  <a:lnTo>
                    <a:pt x="71120" y="1397000"/>
                  </a:lnTo>
                  <a:cubicBezTo>
                    <a:pt x="31842" y="1397000"/>
                    <a:pt x="0" y="1365159"/>
                    <a:pt x="0" y="1325880"/>
                  </a:cubicBezTo>
                  <a:lnTo>
                    <a:pt x="0" y="71120"/>
                  </a:lnTo>
                  <a:cubicBezTo>
                    <a:pt x="0" y="31842"/>
                    <a:pt x="31842" y="0"/>
                    <a:pt x="71120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43C6E8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19050"/>
              <a:ext cx="3175000" cy="1377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SIGSTOP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PAUSE</a:t>
              </a:r>
            </a:p>
          </p:txBody>
        </p:sp>
      </p:grpSp>
      <p:sp>
        <p:nvSpPr>
          <p:cNvPr id="18" name="AutoShape 18"/>
          <p:cNvSpPr/>
          <p:nvPr/>
        </p:nvSpPr>
        <p:spPr>
          <a:xfrm flipV="1">
            <a:off x="11191875" y="3381375"/>
            <a:ext cx="3143250" cy="1381125"/>
          </a:xfrm>
          <a:prstGeom prst="line">
            <a:avLst/>
          </a:prstGeom>
          <a:ln w="28575" cap="rnd">
            <a:solidFill>
              <a:srgbClr val="43C6E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9" name="Group 19"/>
          <p:cNvGrpSpPr/>
          <p:nvPr/>
        </p:nvGrpSpPr>
        <p:grpSpPr>
          <a:xfrm>
            <a:off x="14478000" y="2857500"/>
            <a:ext cx="2381250" cy="1047750"/>
            <a:chOff x="0" y="0"/>
            <a:chExt cx="3175000" cy="1397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175000" cy="1397000"/>
            </a:xfrm>
            <a:custGeom>
              <a:avLst/>
              <a:gdLst/>
              <a:ahLst/>
              <a:cxnLst/>
              <a:rect l="l" t="t" r="r" b="b"/>
              <a:pathLst>
                <a:path w="3175000" h="1397000">
                  <a:moveTo>
                    <a:pt x="71120" y="0"/>
                  </a:moveTo>
                  <a:lnTo>
                    <a:pt x="3103880" y="0"/>
                  </a:lnTo>
                  <a:cubicBezTo>
                    <a:pt x="3143159" y="0"/>
                    <a:pt x="3175000" y="31842"/>
                    <a:pt x="3175000" y="71120"/>
                  </a:cubicBezTo>
                  <a:lnTo>
                    <a:pt x="3175000" y="1325880"/>
                  </a:lnTo>
                  <a:cubicBezTo>
                    <a:pt x="3175000" y="1365159"/>
                    <a:pt x="3143159" y="1397000"/>
                    <a:pt x="3103880" y="1397000"/>
                  </a:cubicBezTo>
                  <a:lnTo>
                    <a:pt x="71120" y="1397000"/>
                  </a:lnTo>
                  <a:cubicBezTo>
                    <a:pt x="31842" y="1397000"/>
                    <a:pt x="0" y="1365159"/>
                    <a:pt x="0" y="1325880"/>
                  </a:cubicBezTo>
                  <a:lnTo>
                    <a:pt x="0" y="71120"/>
                  </a:lnTo>
                  <a:cubicBezTo>
                    <a:pt x="0" y="31842"/>
                    <a:pt x="31842" y="0"/>
                    <a:pt x="71120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43C6E8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19050"/>
              <a:ext cx="3175000" cy="1377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SIGCONT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RESUME</a:t>
              </a:r>
            </a:p>
          </p:txBody>
        </p:sp>
      </p:grpSp>
      <p:sp>
        <p:nvSpPr>
          <p:cNvPr id="22" name="AutoShape 22"/>
          <p:cNvSpPr/>
          <p:nvPr/>
        </p:nvSpPr>
        <p:spPr>
          <a:xfrm>
            <a:off x="11191875" y="4762500"/>
            <a:ext cx="381000" cy="1095375"/>
          </a:xfrm>
          <a:prstGeom prst="line">
            <a:avLst/>
          </a:prstGeom>
          <a:ln w="28575" cap="rnd">
            <a:solidFill>
              <a:srgbClr val="FF6B7A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3" name="Group 23"/>
          <p:cNvGrpSpPr/>
          <p:nvPr/>
        </p:nvGrpSpPr>
        <p:grpSpPr>
          <a:xfrm>
            <a:off x="11715750" y="5334000"/>
            <a:ext cx="2381250" cy="1047750"/>
            <a:chOff x="0" y="0"/>
            <a:chExt cx="3175000" cy="13970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175000" cy="1397000"/>
            </a:xfrm>
            <a:custGeom>
              <a:avLst/>
              <a:gdLst/>
              <a:ahLst/>
              <a:cxnLst/>
              <a:rect l="l" t="t" r="r" b="b"/>
              <a:pathLst>
                <a:path w="3175000" h="1397000">
                  <a:moveTo>
                    <a:pt x="71120" y="0"/>
                  </a:moveTo>
                  <a:lnTo>
                    <a:pt x="3103880" y="0"/>
                  </a:lnTo>
                  <a:cubicBezTo>
                    <a:pt x="3143159" y="0"/>
                    <a:pt x="3175000" y="31842"/>
                    <a:pt x="3175000" y="71120"/>
                  </a:cubicBezTo>
                  <a:lnTo>
                    <a:pt x="3175000" y="1325880"/>
                  </a:lnTo>
                  <a:cubicBezTo>
                    <a:pt x="3175000" y="1365159"/>
                    <a:pt x="3143159" y="1397000"/>
                    <a:pt x="3103880" y="1397000"/>
                  </a:cubicBezTo>
                  <a:lnTo>
                    <a:pt x="71120" y="1397000"/>
                  </a:lnTo>
                  <a:cubicBezTo>
                    <a:pt x="31842" y="1397000"/>
                    <a:pt x="0" y="1365159"/>
                    <a:pt x="0" y="1325880"/>
                  </a:cubicBezTo>
                  <a:lnTo>
                    <a:pt x="0" y="71120"/>
                  </a:lnTo>
                  <a:cubicBezTo>
                    <a:pt x="0" y="31842"/>
                    <a:pt x="31842" y="0"/>
                    <a:pt x="71120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FF6B7A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19050"/>
              <a:ext cx="3175000" cy="1377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SIGTERM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GRACEFUL</a:t>
              </a:r>
            </a:p>
          </p:txBody>
        </p:sp>
      </p:grpSp>
      <p:sp>
        <p:nvSpPr>
          <p:cNvPr id="26" name="AutoShape 26"/>
          <p:cNvSpPr/>
          <p:nvPr/>
        </p:nvSpPr>
        <p:spPr>
          <a:xfrm>
            <a:off x="11191875" y="4762500"/>
            <a:ext cx="3143250" cy="1095375"/>
          </a:xfrm>
          <a:prstGeom prst="line">
            <a:avLst/>
          </a:prstGeom>
          <a:ln w="28575" cap="rnd">
            <a:solidFill>
              <a:srgbClr val="FF6B7A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7" name="Group 27"/>
          <p:cNvGrpSpPr/>
          <p:nvPr/>
        </p:nvGrpSpPr>
        <p:grpSpPr>
          <a:xfrm>
            <a:off x="14478000" y="5334000"/>
            <a:ext cx="2381250" cy="1047750"/>
            <a:chOff x="0" y="0"/>
            <a:chExt cx="3175000" cy="13970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175000" cy="1397000"/>
            </a:xfrm>
            <a:custGeom>
              <a:avLst/>
              <a:gdLst/>
              <a:ahLst/>
              <a:cxnLst/>
              <a:rect l="l" t="t" r="r" b="b"/>
              <a:pathLst>
                <a:path w="3175000" h="1397000">
                  <a:moveTo>
                    <a:pt x="71120" y="0"/>
                  </a:moveTo>
                  <a:lnTo>
                    <a:pt x="3103880" y="0"/>
                  </a:lnTo>
                  <a:cubicBezTo>
                    <a:pt x="3143159" y="0"/>
                    <a:pt x="3175000" y="31842"/>
                    <a:pt x="3175000" y="71120"/>
                  </a:cubicBezTo>
                  <a:lnTo>
                    <a:pt x="3175000" y="1325880"/>
                  </a:lnTo>
                  <a:cubicBezTo>
                    <a:pt x="3175000" y="1365159"/>
                    <a:pt x="3143159" y="1397000"/>
                    <a:pt x="3103880" y="1397000"/>
                  </a:cubicBezTo>
                  <a:lnTo>
                    <a:pt x="71120" y="1397000"/>
                  </a:lnTo>
                  <a:cubicBezTo>
                    <a:pt x="31842" y="1397000"/>
                    <a:pt x="0" y="1365159"/>
                    <a:pt x="0" y="1325880"/>
                  </a:cubicBezTo>
                  <a:lnTo>
                    <a:pt x="0" y="71120"/>
                  </a:lnTo>
                  <a:cubicBezTo>
                    <a:pt x="0" y="31842"/>
                    <a:pt x="31842" y="0"/>
                    <a:pt x="71120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FF6B7A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19050"/>
              <a:ext cx="3175000" cy="1377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SIGKILL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FORCE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619250" y="7781925"/>
            <a:ext cx="14287500" cy="358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6"/>
              </a:lnSpc>
            </a:pPr>
            <a:r>
              <a:rPr lang="en-US" sz="2175">
                <a:solidFill>
                  <a:srgbClr val="F4F7FA"/>
                </a:solidFill>
                <a:latin typeface="Open Sans"/>
                <a:ea typeface="Open Sans"/>
                <a:cs typeface="Open Sans"/>
                <a:sym typeface="Open Sans"/>
              </a:rPr>
              <a:t>SIGCHLD notifies the parent when a child stops or terminates. SIGINT supports interactive interruption.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14400" y="9791700"/>
            <a:ext cx="164592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74"/>
              </a:lnSpc>
            </a:pPr>
            <a:r>
              <a:rPr lang="en-US" sz="1125" b="1" spc="89">
                <a:solidFill>
                  <a:srgbClr val="9BACB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INTERACTIVE PROCESS MANAGEMENT SYSTEM     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23875"/>
            <a:ext cx="857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43C6E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SYSTEMS PROGRAMMING  /  09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038225"/>
            <a:ext cx="14287500" cy="587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1">
                <a:solidFill>
                  <a:srgbClr val="F4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Inter-Process Communication — Pipes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1809750"/>
            <a:ext cx="16459200" cy="19050"/>
            <a:chOff x="0" y="0"/>
            <a:chExt cx="21945600" cy="25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5400"/>
            </a:xfrm>
            <a:custGeom>
              <a:avLst/>
              <a:gdLst/>
              <a:ahLst/>
              <a:cxnLst/>
              <a:rect l="l" t="t" r="r" b="b"/>
              <a:pathLst>
                <a:path w="21945600" h="254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B3A47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81125" y="3143250"/>
            <a:ext cx="4095750" cy="1714500"/>
            <a:chOff x="0" y="0"/>
            <a:chExt cx="5461000" cy="2286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461000" cy="2286000"/>
            </a:xfrm>
            <a:custGeom>
              <a:avLst/>
              <a:gdLst/>
              <a:ahLst/>
              <a:cxnLst/>
              <a:rect l="l" t="t" r="r" b="b"/>
              <a:pathLst>
                <a:path w="5461000" h="2286000">
                  <a:moveTo>
                    <a:pt x="41349" y="0"/>
                  </a:moveTo>
                  <a:lnTo>
                    <a:pt x="5419651" y="0"/>
                  </a:lnTo>
                  <a:cubicBezTo>
                    <a:pt x="5430618" y="0"/>
                    <a:pt x="5441135" y="4356"/>
                    <a:pt x="5448889" y="12111"/>
                  </a:cubicBezTo>
                  <a:cubicBezTo>
                    <a:pt x="5456644" y="19865"/>
                    <a:pt x="5461000" y="30382"/>
                    <a:pt x="5461000" y="41349"/>
                  </a:cubicBezTo>
                  <a:lnTo>
                    <a:pt x="5461000" y="2244651"/>
                  </a:lnTo>
                  <a:cubicBezTo>
                    <a:pt x="5461000" y="2255618"/>
                    <a:pt x="5456644" y="2266135"/>
                    <a:pt x="5448889" y="2273889"/>
                  </a:cubicBezTo>
                  <a:cubicBezTo>
                    <a:pt x="5441135" y="2281644"/>
                    <a:pt x="5430618" y="2286000"/>
                    <a:pt x="5419651" y="2286000"/>
                  </a:cubicBezTo>
                  <a:lnTo>
                    <a:pt x="41349" y="2286000"/>
                  </a:lnTo>
                  <a:cubicBezTo>
                    <a:pt x="30382" y="2286000"/>
                    <a:pt x="19865" y="2281644"/>
                    <a:pt x="12111" y="2273889"/>
                  </a:cubicBezTo>
                  <a:cubicBezTo>
                    <a:pt x="4356" y="2266135"/>
                    <a:pt x="0" y="2255618"/>
                    <a:pt x="0" y="2244651"/>
                  </a:cubicBezTo>
                  <a:lnTo>
                    <a:pt x="0" y="41349"/>
                  </a:lnTo>
                  <a:cubicBezTo>
                    <a:pt x="0" y="30382"/>
                    <a:pt x="4356" y="19865"/>
                    <a:pt x="12111" y="12111"/>
                  </a:cubicBezTo>
                  <a:cubicBezTo>
                    <a:pt x="19865" y="4356"/>
                    <a:pt x="30382" y="0"/>
                    <a:pt x="41349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57E389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19050"/>
              <a:ext cx="5461000" cy="2266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PROCESS A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ls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stdout → fd[1]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811125" y="3143250"/>
            <a:ext cx="4095750" cy="1714500"/>
            <a:chOff x="0" y="0"/>
            <a:chExt cx="5461000" cy="2286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461000" cy="2286000"/>
            </a:xfrm>
            <a:custGeom>
              <a:avLst/>
              <a:gdLst/>
              <a:ahLst/>
              <a:cxnLst/>
              <a:rect l="l" t="t" r="r" b="b"/>
              <a:pathLst>
                <a:path w="5461000" h="2286000">
                  <a:moveTo>
                    <a:pt x="41349" y="0"/>
                  </a:moveTo>
                  <a:lnTo>
                    <a:pt x="5419651" y="0"/>
                  </a:lnTo>
                  <a:cubicBezTo>
                    <a:pt x="5430618" y="0"/>
                    <a:pt x="5441135" y="4356"/>
                    <a:pt x="5448889" y="12111"/>
                  </a:cubicBezTo>
                  <a:cubicBezTo>
                    <a:pt x="5456644" y="19865"/>
                    <a:pt x="5461000" y="30382"/>
                    <a:pt x="5461000" y="41349"/>
                  </a:cubicBezTo>
                  <a:lnTo>
                    <a:pt x="5461000" y="2244651"/>
                  </a:lnTo>
                  <a:cubicBezTo>
                    <a:pt x="5461000" y="2255618"/>
                    <a:pt x="5456644" y="2266135"/>
                    <a:pt x="5448889" y="2273889"/>
                  </a:cubicBezTo>
                  <a:cubicBezTo>
                    <a:pt x="5441135" y="2281644"/>
                    <a:pt x="5430618" y="2286000"/>
                    <a:pt x="5419651" y="2286000"/>
                  </a:cubicBezTo>
                  <a:lnTo>
                    <a:pt x="41349" y="2286000"/>
                  </a:lnTo>
                  <a:cubicBezTo>
                    <a:pt x="30382" y="2286000"/>
                    <a:pt x="19865" y="2281644"/>
                    <a:pt x="12111" y="2273889"/>
                  </a:cubicBezTo>
                  <a:cubicBezTo>
                    <a:pt x="4356" y="2266135"/>
                    <a:pt x="0" y="2255618"/>
                    <a:pt x="0" y="2244651"/>
                  </a:cubicBezTo>
                  <a:lnTo>
                    <a:pt x="0" y="41349"/>
                  </a:lnTo>
                  <a:cubicBezTo>
                    <a:pt x="0" y="30382"/>
                    <a:pt x="4356" y="19865"/>
                    <a:pt x="12111" y="12111"/>
                  </a:cubicBezTo>
                  <a:cubicBezTo>
                    <a:pt x="19865" y="4356"/>
                    <a:pt x="30382" y="0"/>
                    <a:pt x="41349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43C6E8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19050"/>
              <a:ext cx="5461000" cy="2266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PROCESS B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grep src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fd[0] → stdin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>
            <a:off x="5476875" y="4000500"/>
            <a:ext cx="7334250" cy="0"/>
          </a:xfrm>
          <a:prstGeom prst="line">
            <a:avLst/>
          </a:prstGeom>
          <a:ln w="28575" cap="rnd">
            <a:solidFill>
              <a:srgbClr val="57E389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4" name="Group 14"/>
          <p:cNvGrpSpPr/>
          <p:nvPr/>
        </p:nvGrpSpPr>
        <p:grpSpPr>
          <a:xfrm>
            <a:off x="6858000" y="3048000"/>
            <a:ext cx="4572000" cy="1905000"/>
            <a:chOff x="0" y="0"/>
            <a:chExt cx="6096000" cy="2540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096000" cy="2540000"/>
            </a:xfrm>
            <a:custGeom>
              <a:avLst/>
              <a:gdLst/>
              <a:ahLst/>
              <a:cxnLst/>
              <a:rect l="l" t="t" r="r" b="b"/>
              <a:pathLst>
                <a:path w="6096000" h="2540000">
                  <a:moveTo>
                    <a:pt x="0" y="0"/>
                  </a:moveTo>
                  <a:lnTo>
                    <a:pt x="6096000" y="0"/>
                  </a:lnTo>
                  <a:lnTo>
                    <a:pt x="6096000" y="2540000"/>
                  </a:lnTo>
                  <a:lnTo>
                    <a:pt x="0" y="2540000"/>
                  </a:lnTo>
                  <a:close/>
                </a:path>
              </a:pathLst>
            </a:custGeom>
            <a:solidFill>
              <a:srgbClr val="1B2632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6096000" cy="257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00750" y="5048250"/>
            <a:ext cx="6381750" cy="2333625"/>
            <a:chOff x="0" y="0"/>
            <a:chExt cx="8509000" cy="31115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509000" cy="3111500"/>
            </a:xfrm>
            <a:custGeom>
              <a:avLst/>
              <a:gdLst/>
              <a:ahLst/>
              <a:cxnLst/>
              <a:rect l="l" t="t" r="r" b="b"/>
              <a:pathLst>
                <a:path w="8509000" h="3111500">
                  <a:moveTo>
                    <a:pt x="0" y="0"/>
                  </a:moveTo>
                  <a:lnTo>
                    <a:pt x="8509000" y="0"/>
                  </a:lnTo>
                  <a:lnTo>
                    <a:pt x="8509000" y="3111500"/>
                  </a:lnTo>
                  <a:lnTo>
                    <a:pt x="0" y="3111500"/>
                  </a:lnTo>
                  <a:close/>
                </a:path>
              </a:pathLst>
            </a:custGeom>
            <a:solidFill>
              <a:srgbClr val="05080B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8509000" cy="3149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429500" y="3343275"/>
            <a:ext cx="3429000" cy="29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15"/>
              </a:lnSpc>
            </a:pPr>
            <a:r>
              <a:rPr lang="en-US" sz="1725" b="1" spc="138">
                <a:solidFill>
                  <a:srgbClr val="57E389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KERNEL PIPE BUFFER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477000" y="5219700"/>
            <a:ext cx="5429250" cy="1240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F4F7FA"/>
                </a:solidFill>
                <a:latin typeface="IBM Plex Mono"/>
                <a:ea typeface="IBM Plex Mono"/>
                <a:cs typeface="IBM Plex Mono"/>
                <a:sym typeface="IBM Plex Mono"/>
              </a:rPr>
              <a:t>pipe(fd);</a:t>
            </a:r>
          </a:p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F4F7FA"/>
                </a:solidFill>
                <a:latin typeface="IBM Plex Mono"/>
                <a:ea typeface="IBM Plex Mono"/>
                <a:cs typeface="IBM Plex Mono"/>
                <a:sym typeface="IBM Plex Mono"/>
              </a:rPr>
              <a:t>dup2(fd[1], STDOUT_FILENO);</a:t>
            </a:r>
          </a:p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F4F7FA"/>
                </a:solidFill>
                <a:latin typeface="IBM Plex Mono"/>
                <a:ea typeface="IBM Plex Mono"/>
                <a:cs typeface="IBM Plex Mono"/>
                <a:sym typeface="IBM Plex Mono"/>
              </a:rPr>
              <a:t>dup2(fd[0], STDIN_FILENO);</a:t>
            </a:r>
          </a:p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F4F7FA"/>
                </a:solidFill>
                <a:latin typeface="IBM Plex Mono"/>
                <a:ea typeface="IBM Plex Mono"/>
                <a:cs typeface="IBM Plex Mono"/>
                <a:sym typeface="IBM Plex Mono"/>
              </a:rPr>
              <a:t>close(fd[0]); close(fd[1]);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857500" y="7820025"/>
            <a:ext cx="12573000" cy="435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43"/>
              </a:lnSpc>
            </a:pPr>
            <a:r>
              <a:rPr lang="en-US" sz="2625">
                <a:solidFill>
                  <a:srgbClr val="57E389"/>
                </a:solidFill>
                <a:latin typeface="IBM Plex Mono"/>
                <a:ea typeface="IBM Plex Mono"/>
                <a:cs typeface="IBM Plex Mono"/>
                <a:sym typeface="IBM Plex Mono"/>
              </a:rPr>
              <a:t>ls | grep src      ls | wc      pwd | wc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14400" y="9791700"/>
            <a:ext cx="164592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74"/>
              </a:lnSpc>
            </a:pPr>
            <a:r>
              <a:rPr lang="en-US" sz="1125" b="1" spc="89">
                <a:solidFill>
                  <a:srgbClr val="9BACB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INTERACTIVE PROCESS MANAGEMENT SYSTEM     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23875"/>
            <a:ext cx="857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43C6E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SYSTEMS PROGRAMMING  /  10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038225"/>
            <a:ext cx="14287500" cy="587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1">
                <a:solidFill>
                  <a:srgbClr val="F4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Input &amp; Output Redirection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1809750"/>
            <a:ext cx="16459200" cy="19050"/>
            <a:chOff x="0" y="0"/>
            <a:chExt cx="21945600" cy="25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5400"/>
            </a:xfrm>
            <a:custGeom>
              <a:avLst/>
              <a:gdLst/>
              <a:ahLst/>
              <a:cxnLst/>
              <a:rect l="l" t="t" r="r" b="b"/>
              <a:pathLst>
                <a:path w="21945600" h="254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B3A47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000875" y="3762375"/>
            <a:ext cx="4286250" cy="1809750"/>
            <a:chOff x="0" y="0"/>
            <a:chExt cx="5715000" cy="2413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715000" cy="2413000"/>
            </a:xfrm>
            <a:custGeom>
              <a:avLst/>
              <a:gdLst/>
              <a:ahLst/>
              <a:cxnLst/>
              <a:rect l="l" t="t" r="r" b="b"/>
              <a:pathLst>
                <a:path w="5715000" h="2413000">
                  <a:moveTo>
                    <a:pt x="39511" y="0"/>
                  </a:moveTo>
                  <a:lnTo>
                    <a:pt x="5675489" y="0"/>
                  </a:lnTo>
                  <a:cubicBezTo>
                    <a:pt x="5685968" y="0"/>
                    <a:pt x="5696018" y="4163"/>
                    <a:pt x="5703427" y="11573"/>
                  </a:cubicBezTo>
                  <a:cubicBezTo>
                    <a:pt x="5710837" y="18982"/>
                    <a:pt x="5715000" y="29032"/>
                    <a:pt x="5715000" y="39511"/>
                  </a:cubicBezTo>
                  <a:lnTo>
                    <a:pt x="5715000" y="2373489"/>
                  </a:lnTo>
                  <a:cubicBezTo>
                    <a:pt x="5715000" y="2383968"/>
                    <a:pt x="5710837" y="2394018"/>
                    <a:pt x="5703427" y="2401427"/>
                  </a:cubicBezTo>
                  <a:cubicBezTo>
                    <a:pt x="5696018" y="2408837"/>
                    <a:pt x="5685968" y="2413000"/>
                    <a:pt x="5675489" y="2413000"/>
                  </a:cubicBezTo>
                  <a:lnTo>
                    <a:pt x="39511" y="2413000"/>
                  </a:lnTo>
                  <a:cubicBezTo>
                    <a:pt x="29032" y="2413000"/>
                    <a:pt x="18982" y="2408837"/>
                    <a:pt x="11573" y="2401427"/>
                  </a:cubicBezTo>
                  <a:cubicBezTo>
                    <a:pt x="4163" y="2394018"/>
                    <a:pt x="0" y="2383968"/>
                    <a:pt x="0" y="2373489"/>
                  </a:cubicBezTo>
                  <a:lnTo>
                    <a:pt x="0" y="39511"/>
                  </a:lnTo>
                  <a:cubicBezTo>
                    <a:pt x="0" y="29032"/>
                    <a:pt x="4163" y="18982"/>
                    <a:pt x="11573" y="11573"/>
                  </a:cubicBezTo>
                  <a:cubicBezTo>
                    <a:pt x="18982" y="4163"/>
                    <a:pt x="29032" y="0"/>
                    <a:pt x="39511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57E389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19050"/>
              <a:ext cx="5715000" cy="2393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PROGRAM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file descriptors 0 · 1 · 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524000" y="2571750"/>
            <a:ext cx="3238500" cy="1238250"/>
            <a:chOff x="0" y="0"/>
            <a:chExt cx="4318000" cy="1651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318000" cy="1651000"/>
            </a:xfrm>
            <a:custGeom>
              <a:avLst/>
              <a:gdLst/>
              <a:ahLst/>
              <a:cxnLst/>
              <a:rect l="l" t="t" r="r" b="b"/>
              <a:pathLst>
                <a:path w="4318000" h="1651000">
                  <a:moveTo>
                    <a:pt x="52294" y="0"/>
                  </a:moveTo>
                  <a:lnTo>
                    <a:pt x="4265706" y="0"/>
                  </a:lnTo>
                  <a:cubicBezTo>
                    <a:pt x="4294587" y="0"/>
                    <a:pt x="4318000" y="23413"/>
                    <a:pt x="4318000" y="52294"/>
                  </a:cubicBezTo>
                  <a:lnTo>
                    <a:pt x="4318000" y="1598706"/>
                  </a:lnTo>
                  <a:cubicBezTo>
                    <a:pt x="4318000" y="1627587"/>
                    <a:pt x="4294587" y="1651000"/>
                    <a:pt x="4265706" y="1651000"/>
                  </a:cubicBezTo>
                  <a:lnTo>
                    <a:pt x="52294" y="1651000"/>
                  </a:lnTo>
                  <a:cubicBezTo>
                    <a:pt x="23413" y="1651000"/>
                    <a:pt x="0" y="1627587"/>
                    <a:pt x="0" y="1598706"/>
                  </a:cubicBezTo>
                  <a:lnTo>
                    <a:pt x="0" y="52294"/>
                  </a:lnTo>
                  <a:cubicBezTo>
                    <a:pt x="0" y="23413"/>
                    <a:pt x="23413" y="0"/>
                    <a:pt x="52294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43C6E8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19050"/>
              <a:ext cx="4318000" cy="1631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INPUT FILE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&lt;  stdin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525500" y="2333625"/>
            <a:ext cx="3238500" cy="1238250"/>
            <a:chOff x="0" y="0"/>
            <a:chExt cx="4318000" cy="1651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318000" cy="1651000"/>
            </a:xfrm>
            <a:custGeom>
              <a:avLst/>
              <a:gdLst/>
              <a:ahLst/>
              <a:cxnLst/>
              <a:rect l="l" t="t" r="r" b="b"/>
              <a:pathLst>
                <a:path w="4318000" h="1651000">
                  <a:moveTo>
                    <a:pt x="52294" y="0"/>
                  </a:moveTo>
                  <a:lnTo>
                    <a:pt x="4265706" y="0"/>
                  </a:lnTo>
                  <a:cubicBezTo>
                    <a:pt x="4294587" y="0"/>
                    <a:pt x="4318000" y="23413"/>
                    <a:pt x="4318000" y="52294"/>
                  </a:cubicBezTo>
                  <a:lnTo>
                    <a:pt x="4318000" y="1598706"/>
                  </a:lnTo>
                  <a:cubicBezTo>
                    <a:pt x="4318000" y="1627587"/>
                    <a:pt x="4294587" y="1651000"/>
                    <a:pt x="4265706" y="1651000"/>
                  </a:cubicBezTo>
                  <a:lnTo>
                    <a:pt x="52294" y="1651000"/>
                  </a:lnTo>
                  <a:cubicBezTo>
                    <a:pt x="23413" y="1651000"/>
                    <a:pt x="0" y="1627587"/>
                    <a:pt x="0" y="1598706"/>
                  </a:cubicBezTo>
                  <a:lnTo>
                    <a:pt x="0" y="52294"/>
                  </a:lnTo>
                  <a:cubicBezTo>
                    <a:pt x="0" y="23413"/>
                    <a:pt x="23413" y="0"/>
                    <a:pt x="52294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57E389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19050"/>
              <a:ext cx="4318000" cy="1631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OUTPUT FILE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&gt;  or  &gt;&gt;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525500" y="5810250"/>
            <a:ext cx="3238500" cy="1238250"/>
            <a:chOff x="0" y="0"/>
            <a:chExt cx="4318000" cy="1651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318000" cy="1651000"/>
            </a:xfrm>
            <a:custGeom>
              <a:avLst/>
              <a:gdLst/>
              <a:ahLst/>
              <a:cxnLst/>
              <a:rect l="l" t="t" r="r" b="b"/>
              <a:pathLst>
                <a:path w="4318000" h="1651000">
                  <a:moveTo>
                    <a:pt x="52294" y="0"/>
                  </a:moveTo>
                  <a:lnTo>
                    <a:pt x="4265706" y="0"/>
                  </a:lnTo>
                  <a:cubicBezTo>
                    <a:pt x="4294587" y="0"/>
                    <a:pt x="4318000" y="23413"/>
                    <a:pt x="4318000" y="52294"/>
                  </a:cubicBezTo>
                  <a:lnTo>
                    <a:pt x="4318000" y="1598706"/>
                  </a:lnTo>
                  <a:cubicBezTo>
                    <a:pt x="4318000" y="1627587"/>
                    <a:pt x="4294587" y="1651000"/>
                    <a:pt x="4265706" y="1651000"/>
                  </a:cubicBezTo>
                  <a:lnTo>
                    <a:pt x="52294" y="1651000"/>
                  </a:lnTo>
                  <a:cubicBezTo>
                    <a:pt x="23413" y="1651000"/>
                    <a:pt x="0" y="1627587"/>
                    <a:pt x="0" y="1598706"/>
                  </a:cubicBezTo>
                  <a:lnTo>
                    <a:pt x="0" y="52294"/>
                  </a:lnTo>
                  <a:cubicBezTo>
                    <a:pt x="0" y="23413"/>
                    <a:pt x="23413" y="0"/>
                    <a:pt x="52294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FF6B7A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19050"/>
              <a:ext cx="4318000" cy="1631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ERROR FILE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2&gt;  stderr</a:t>
              </a:r>
            </a:p>
          </p:txBody>
        </p:sp>
      </p:grpSp>
      <p:sp>
        <p:nvSpPr>
          <p:cNvPr id="19" name="AutoShape 19"/>
          <p:cNvSpPr/>
          <p:nvPr/>
        </p:nvSpPr>
        <p:spPr>
          <a:xfrm>
            <a:off x="4762500" y="3190875"/>
            <a:ext cx="2238375" cy="1000125"/>
          </a:xfrm>
          <a:prstGeom prst="line">
            <a:avLst/>
          </a:prstGeom>
          <a:ln w="28575" cap="rnd">
            <a:solidFill>
              <a:srgbClr val="43C6E8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0" name="AutoShape 20"/>
          <p:cNvSpPr/>
          <p:nvPr/>
        </p:nvSpPr>
        <p:spPr>
          <a:xfrm flipV="1">
            <a:off x="11287125" y="2952750"/>
            <a:ext cx="2238375" cy="1238250"/>
          </a:xfrm>
          <a:prstGeom prst="line">
            <a:avLst/>
          </a:prstGeom>
          <a:ln w="28575" cap="rnd">
            <a:solidFill>
              <a:srgbClr val="57E389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1" name="AutoShape 21"/>
          <p:cNvSpPr/>
          <p:nvPr/>
        </p:nvSpPr>
        <p:spPr>
          <a:xfrm>
            <a:off x="11287125" y="4953000"/>
            <a:ext cx="2238375" cy="1476375"/>
          </a:xfrm>
          <a:prstGeom prst="line">
            <a:avLst/>
          </a:prstGeom>
          <a:ln w="28575" cap="rnd">
            <a:solidFill>
              <a:srgbClr val="FF6B7A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2" name="TextBox 22"/>
          <p:cNvSpPr txBox="1"/>
          <p:nvPr/>
        </p:nvSpPr>
        <p:spPr>
          <a:xfrm>
            <a:off x="4953000" y="7200900"/>
            <a:ext cx="8382000" cy="469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7"/>
              </a:lnSpc>
            </a:pPr>
            <a:r>
              <a:rPr lang="en-US" sz="2850">
                <a:solidFill>
                  <a:srgbClr val="57E389"/>
                </a:solidFill>
                <a:latin typeface="IBM Plex Mono"/>
                <a:ea typeface="IBM Plex Mono"/>
                <a:cs typeface="IBM Plex Mono"/>
                <a:sym typeface="IBM Plex Mono"/>
              </a:rPr>
              <a:t>open()  →  dup2()  →  close()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381500" y="8058150"/>
            <a:ext cx="9525000" cy="342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3"/>
              </a:lnSpc>
            </a:pPr>
            <a:r>
              <a:rPr lang="en-US" sz="2025">
                <a:solidFill>
                  <a:srgbClr val="9BACBA"/>
                </a:solidFill>
                <a:latin typeface="Open Sans"/>
                <a:ea typeface="Open Sans"/>
                <a:cs typeface="Open Sans"/>
                <a:sym typeface="Open Sans"/>
              </a:rPr>
              <a:t>The terminal endpoint is replaced by a file descriptor before execvp().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14400" y="9791700"/>
            <a:ext cx="164592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74"/>
              </a:lnSpc>
            </a:pPr>
            <a:r>
              <a:rPr lang="en-US" sz="1125" b="1" spc="89">
                <a:solidFill>
                  <a:srgbClr val="9BACB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INTERACTIVE PROCESS MANAGEMENT SYSTEM     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23875"/>
            <a:ext cx="857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43C6E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SYSTEMS PROGRAMMING  /  11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038225"/>
            <a:ext cx="14287500" cy="587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1">
                <a:solidFill>
                  <a:srgbClr val="F4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POSIX Multithreading &amp; Synchronization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1809750"/>
            <a:ext cx="16459200" cy="19050"/>
            <a:chOff x="0" y="0"/>
            <a:chExt cx="21945600" cy="25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5400"/>
            </a:xfrm>
            <a:custGeom>
              <a:avLst/>
              <a:gdLst/>
              <a:ahLst/>
              <a:cxnLst/>
              <a:rect l="l" t="t" r="r" b="b"/>
              <a:pathLst>
                <a:path w="21945600" h="254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B3A47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858000" y="2333625"/>
            <a:ext cx="4572000" cy="952500"/>
            <a:chOff x="0" y="0"/>
            <a:chExt cx="6096000" cy="127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096000" cy="1270000"/>
            </a:xfrm>
            <a:custGeom>
              <a:avLst/>
              <a:gdLst/>
              <a:ahLst/>
              <a:cxnLst/>
              <a:rect l="l" t="t" r="r" b="b"/>
              <a:pathLst>
                <a:path w="6096000" h="1270000">
                  <a:moveTo>
                    <a:pt x="37042" y="0"/>
                  </a:moveTo>
                  <a:lnTo>
                    <a:pt x="6058958" y="0"/>
                  </a:lnTo>
                  <a:cubicBezTo>
                    <a:pt x="6079416" y="0"/>
                    <a:pt x="6096000" y="16584"/>
                    <a:pt x="6096000" y="37042"/>
                  </a:cubicBezTo>
                  <a:lnTo>
                    <a:pt x="6096000" y="1232958"/>
                  </a:lnTo>
                  <a:cubicBezTo>
                    <a:pt x="6096000" y="1253416"/>
                    <a:pt x="6079416" y="1270000"/>
                    <a:pt x="6058958" y="1270000"/>
                  </a:cubicBezTo>
                  <a:lnTo>
                    <a:pt x="37042" y="1270000"/>
                  </a:lnTo>
                  <a:cubicBezTo>
                    <a:pt x="16584" y="1270000"/>
                    <a:pt x="0" y="1253416"/>
                    <a:pt x="0" y="1232958"/>
                  </a:cubicBezTo>
                  <a:lnTo>
                    <a:pt x="0" y="37042"/>
                  </a:lnTo>
                  <a:cubicBezTo>
                    <a:pt x="0" y="16584"/>
                    <a:pt x="16584" y="0"/>
                    <a:pt x="37042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57E389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19050"/>
              <a:ext cx="6096000" cy="1250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PROCESS MANAGER</a:t>
              </a:r>
            </a:p>
          </p:txBody>
        </p:sp>
      </p:grpSp>
      <p:sp>
        <p:nvSpPr>
          <p:cNvPr id="10" name="AutoShape 10"/>
          <p:cNvSpPr/>
          <p:nvPr/>
        </p:nvSpPr>
        <p:spPr>
          <a:xfrm flipH="1">
            <a:off x="4572000" y="3286125"/>
            <a:ext cx="4000500" cy="1333500"/>
          </a:xfrm>
          <a:prstGeom prst="line">
            <a:avLst/>
          </a:prstGeom>
          <a:ln w="28575" cap="rnd">
            <a:solidFill>
              <a:srgbClr val="43C6E8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1" name="AutoShape 11"/>
          <p:cNvSpPr/>
          <p:nvPr/>
        </p:nvSpPr>
        <p:spPr>
          <a:xfrm>
            <a:off x="9715500" y="3286125"/>
            <a:ext cx="4000500" cy="1333500"/>
          </a:xfrm>
          <a:prstGeom prst="line">
            <a:avLst/>
          </a:prstGeom>
          <a:ln w="28575" cap="rnd">
            <a:solidFill>
              <a:srgbClr val="43C6E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2" name="Group 12"/>
          <p:cNvGrpSpPr/>
          <p:nvPr/>
        </p:nvGrpSpPr>
        <p:grpSpPr>
          <a:xfrm>
            <a:off x="1809750" y="4762500"/>
            <a:ext cx="5524500" cy="1714500"/>
            <a:chOff x="0" y="0"/>
            <a:chExt cx="7366000" cy="2286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366000" cy="2286000"/>
            </a:xfrm>
            <a:custGeom>
              <a:avLst/>
              <a:gdLst/>
              <a:ahLst/>
              <a:cxnLst/>
              <a:rect l="l" t="t" r="r" b="b"/>
              <a:pathLst>
                <a:path w="7366000" h="2286000">
                  <a:moveTo>
                    <a:pt x="30655" y="0"/>
                  </a:moveTo>
                  <a:lnTo>
                    <a:pt x="7335345" y="0"/>
                  </a:lnTo>
                  <a:cubicBezTo>
                    <a:pt x="7343475" y="0"/>
                    <a:pt x="7351272" y="3230"/>
                    <a:pt x="7357021" y="8979"/>
                  </a:cubicBezTo>
                  <a:cubicBezTo>
                    <a:pt x="7362770" y="14728"/>
                    <a:pt x="7366000" y="22525"/>
                    <a:pt x="7366000" y="30655"/>
                  </a:cubicBezTo>
                  <a:lnTo>
                    <a:pt x="7366000" y="2255345"/>
                  </a:lnTo>
                  <a:cubicBezTo>
                    <a:pt x="7366000" y="2263475"/>
                    <a:pt x="7362770" y="2271272"/>
                    <a:pt x="7357021" y="2277021"/>
                  </a:cubicBezTo>
                  <a:cubicBezTo>
                    <a:pt x="7351272" y="2282770"/>
                    <a:pt x="7343475" y="2286000"/>
                    <a:pt x="7335345" y="2286000"/>
                  </a:cubicBezTo>
                  <a:lnTo>
                    <a:pt x="30655" y="2286000"/>
                  </a:lnTo>
                  <a:cubicBezTo>
                    <a:pt x="22525" y="2286000"/>
                    <a:pt x="14728" y="2282770"/>
                    <a:pt x="8979" y="2277021"/>
                  </a:cubicBezTo>
                  <a:cubicBezTo>
                    <a:pt x="3230" y="2271272"/>
                    <a:pt x="0" y="2263475"/>
                    <a:pt x="0" y="2255345"/>
                  </a:cubicBezTo>
                  <a:lnTo>
                    <a:pt x="0" y="30655"/>
                  </a:lnTo>
                  <a:cubicBezTo>
                    <a:pt x="0" y="22525"/>
                    <a:pt x="3230" y="14728"/>
                    <a:pt x="8979" y="8979"/>
                  </a:cubicBezTo>
                  <a:cubicBezTo>
                    <a:pt x="14728" y="3230"/>
                    <a:pt x="22525" y="0"/>
                    <a:pt x="30655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43C6E8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19050"/>
              <a:ext cx="7366000" cy="2266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MAIN THREAD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CLI · user commands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remains responsive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953750" y="4762500"/>
            <a:ext cx="5524500" cy="1714500"/>
            <a:chOff x="0" y="0"/>
            <a:chExt cx="7366000" cy="2286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366000" cy="2286000"/>
            </a:xfrm>
            <a:custGeom>
              <a:avLst/>
              <a:gdLst/>
              <a:ahLst/>
              <a:cxnLst/>
              <a:rect l="l" t="t" r="r" b="b"/>
              <a:pathLst>
                <a:path w="7366000" h="2286000">
                  <a:moveTo>
                    <a:pt x="30655" y="0"/>
                  </a:moveTo>
                  <a:lnTo>
                    <a:pt x="7335345" y="0"/>
                  </a:lnTo>
                  <a:cubicBezTo>
                    <a:pt x="7343475" y="0"/>
                    <a:pt x="7351272" y="3230"/>
                    <a:pt x="7357021" y="8979"/>
                  </a:cubicBezTo>
                  <a:cubicBezTo>
                    <a:pt x="7362770" y="14728"/>
                    <a:pt x="7366000" y="22525"/>
                    <a:pt x="7366000" y="30655"/>
                  </a:cubicBezTo>
                  <a:lnTo>
                    <a:pt x="7366000" y="2255345"/>
                  </a:lnTo>
                  <a:cubicBezTo>
                    <a:pt x="7366000" y="2263475"/>
                    <a:pt x="7362770" y="2271272"/>
                    <a:pt x="7357021" y="2277021"/>
                  </a:cubicBezTo>
                  <a:cubicBezTo>
                    <a:pt x="7351272" y="2282770"/>
                    <a:pt x="7343475" y="2286000"/>
                    <a:pt x="7335345" y="2286000"/>
                  </a:cubicBezTo>
                  <a:lnTo>
                    <a:pt x="30655" y="2286000"/>
                  </a:lnTo>
                  <a:cubicBezTo>
                    <a:pt x="22525" y="2286000"/>
                    <a:pt x="14728" y="2282770"/>
                    <a:pt x="8979" y="2277021"/>
                  </a:cubicBezTo>
                  <a:cubicBezTo>
                    <a:pt x="3230" y="2271272"/>
                    <a:pt x="0" y="2263475"/>
                    <a:pt x="0" y="2255345"/>
                  </a:cubicBezTo>
                  <a:lnTo>
                    <a:pt x="0" y="30655"/>
                  </a:lnTo>
                  <a:cubicBezTo>
                    <a:pt x="0" y="22525"/>
                    <a:pt x="3230" y="14728"/>
                    <a:pt x="8979" y="8979"/>
                  </a:cubicBezTo>
                  <a:cubicBezTo>
                    <a:pt x="14728" y="3230"/>
                    <a:pt x="22525" y="0"/>
                    <a:pt x="30655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57E389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19050"/>
              <a:ext cx="7366000" cy="2266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MONITOR THREAD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periodic status checks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detached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858000" y="7381875"/>
            <a:ext cx="4572000" cy="857250"/>
            <a:chOff x="0" y="0"/>
            <a:chExt cx="6096000" cy="1143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096000" cy="1143000"/>
            </a:xfrm>
            <a:custGeom>
              <a:avLst/>
              <a:gdLst/>
              <a:ahLst/>
              <a:cxnLst/>
              <a:rect l="l" t="t" r="r" b="b"/>
              <a:pathLst>
                <a:path w="6096000" h="1143000">
                  <a:moveTo>
                    <a:pt x="37042" y="0"/>
                  </a:moveTo>
                  <a:lnTo>
                    <a:pt x="6058958" y="0"/>
                  </a:lnTo>
                  <a:cubicBezTo>
                    <a:pt x="6079416" y="0"/>
                    <a:pt x="6096000" y="16584"/>
                    <a:pt x="6096000" y="37042"/>
                  </a:cubicBezTo>
                  <a:lnTo>
                    <a:pt x="6096000" y="1105958"/>
                  </a:lnTo>
                  <a:cubicBezTo>
                    <a:pt x="6096000" y="1126416"/>
                    <a:pt x="6079416" y="1143000"/>
                    <a:pt x="6058958" y="1143000"/>
                  </a:cubicBezTo>
                  <a:lnTo>
                    <a:pt x="37042" y="1143000"/>
                  </a:lnTo>
                  <a:cubicBezTo>
                    <a:pt x="16584" y="1143000"/>
                    <a:pt x="0" y="1126416"/>
                    <a:pt x="0" y="1105958"/>
                  </a:cubicBezTo>
                  <a:lnTo>
                    <a:pt x="0" y="37042"/>
                  </a:lnTo>
                  <a:cubicBezTo>
                    <a:pt x="0" y="16584"/>
                    <a:pt x="16584" y="0"/>
                    <a:pt x="37042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FFCB6B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19050"/>
              <a:ext cx="6096000" cy="1123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SHARED REGISTRY · MUTEX</a:t>
              </a:r>
            </a:p>
          </p:txBody>
        </p:sp>
      </p:grpSp>
      <p:sp>
        <p:nvSpPr>
          <p:cNvPr id="21" name="AutoShape 21"/>
          <p:cNvSpPr/>
          <p:nvPr/>
        </p:nvSpPr>
        <p:spPr>
          <a:xfrm>
            <a:off x="4572000" y="6477000"/>
            <a:ext cx="3048000" cy="904875"/>
          </a:xfrm>
          <a:prstGeom prst="line">
            <a:avLst/>
          </a:prstGeom>
          <a:ln w="28575" cap="rnd">
            <a:solidFill>
              <a:srgbClr val="FFCB6B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2" name="AutoShape 22"/>
          <p:cNvSpPr/>
          <p:nvPr/>
        </p:nvSpPr>
        <p:spPr>
          <a:xfrm flipH="1">
            <a:off x="10668000" y="6477000"/>
            <a:ext cx="3048000" cy="904875"/>
          </a:xfrm>
          <a:prstGeom prst="line">
            <a:avLst/>
          </a:prstGeom>
          <a:ln w="28575" cap="rnd">
            <a:solidFill>
              <a:srgbClr val="FFCB6B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3" name="TextBox 23"/>
          <p:cNvSpPr txBox="1"/>
          <p:nvPr/>
        </p:nvSpPr>
        <p:spPr>
          <a:xfrm>
            <a:off x="2381250" y="8505825"/>
            <a:ext cx="13525500" cy="297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1"/>
              </a:lnSpc>
            </a:pPr>
            <a:r>
              <a:rPr lang="en-US" sz="1875">
                <a:solidFill>
                  <a:srgbClr val="57E389"/>
                </a:solidFill>
                <a:latin typeface="IBM Plex Mono"/>
                <a:ea typeface="IBM Plex Mono"/>
                <a:cs typeface="IBM Plex Mono"/>
                <a:sym typeface="IBM Plex Mono"/>
              </a:rPr>
              <a:t>pthread_create()  ·  pthread_detach()  ·  pthread_mutex_lock()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334750" y="6734175"/>
            <a:ext cx="4762500" cy="239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3"/>
              </a:lnSpc>
            </a:pPr>
            <a:r>
              <a:rPr lang="en-US" sz="1425">
                <a:solidFill>
                  <a:srgbClr val="57E389"/>
                </a:solidFill>
                <a:latin typeface="IBM Plex Mono"/>
                <a:ea typeface="IBM Plex Mono"/>
                <a:cs typeface="IBM Plex Mono"/>
                <a:sym typeface="IBM Plex Mono"/>
              </a:rPr>
              <a:t>[Monitor] Process Manager Running...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14400" y="9791700"/>
            <a:ext cx="164592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74"/>
              </a:lnSpc>
            </a:pPr>
            <a:r>
              <a:rPr lang="en-US" sz="1125" b="1" spc="89">
                <a:solidFill>
                  <a:srgbClr val="9BACB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INTERACTIVE PROCESS MANAGEMENT SYSTEM     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23875"/>
            <a:ext cx="857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43C6E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EVALUATION AREAS 01 + 02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038225"/>
            <a:ext cx="14287500" cy="587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1">
                <a:solidFill>
                  <a:srgbClr val="F4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Novelty &amp; Adaptability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1809750"/>
            <a:ext cx="16459200" cy="19050"/>
            <a:chOff x="0" y="0"/>
            <a:chExt cx="21945600" cy="25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5400"/>
            </a:xfrm>
            <a:custGeom>
              <a:avLst/>
              <a:gdLst/>
              <a:ahLst/>
              <a:cxnLst/>
              <a:rect l="l" t="t" r="r" b="b"/>
              <a:pathLst>
                <a:path w="21945600" h="254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B3A47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762750" y="2286000"/>
            <a:ext cx="4762500" cy="952500"/>
            <a:chOff x="0" y="0"/>
            <a:chExt cx="6350000" cy="127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1270000"/>
            </a:xfrm>
            <a:custGeom>
              <a:avLst/>
              <a:gdLst/>
              <a:ahLst/>
              <a:cxnLst/>
              <a:rect l="l" t="t" r="r" b="b"/>
              <a:pathLst>
                <a:path w="6350000" h="1270000">
                  <a:moveTo>
                    <a:pt x="35560" y="0"/>
                  </a:moveTo>
                  <a:lnTo>
                    <a:pt x="6314440" y="0"/>
                  </a:lnTo>
                  <a:cubicBezTo>
                    <a:pt x="6323871" y="0"/>
                    <a:pt x="6332916" y="3746"/>
                    <a:pt x="6339585" y="10415"/>
                  </a:cubicBezTo>
                  <a:cubicBezTo>
                    <a:pt x="6346253" y="17084"/>
                    <a:pt x="6350000" y="26129"/>
                    <a:pt x="6350000" y="35560"/>
                  </a:cubicBezTo>
                  <a:lnTo>
                    <a:pt x="6350000" y="1234440"/>
                  </a:lnTo>
                  <a:cubicBezTo>
                    <a:pt x="6350000" y="1243871"/>
                    <a:pt x="6346253" y="1252916"/>
                    <a:pt x="6339585" y="1259585"/>
                  </a:cubicBezTo>
                  <a:cubicBezTo>
                    <a:pt x="6332916" y="1266254"/>
                    <a:pt x="6323871" y="1270000"/>
                    <a:pt x="6314440" y="1270000"/>
                  </a:cubicBezTo>
                  <a:lnTo>
                    <a:pt x="35560" y="1270000"/>
                  </a:lnTo>
                  <a:cubicBezTo>
                    <a:pt x="15921" y="1270000"/>
                    <a:pt x="0" y="1254079"/>
                    <a:pt x="0" y="1234440"/>
                  </a:cubicBezTo>
                  <a:lnTo>
                    <a:pt x="0" y="35560"/>
                  </a:lnTo>
                  <a:cubicBezTo>
                    <a:pt x="0" y="15921"/>
                    <a:pt x="15921" y="0"/>
                    <a:pt x="35560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57E389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19050"/>
              <a:ext cx="6350000" cy="1250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CORE SYSTEM · MODULAR C</a:t>
              </a:r>
            </a:p>
          </p:txBody>
        </p:sp>
      </p:grpSp>
      <p:sp>
        <p:nvSpPr>
          <p:cNvPr id="10" name="AutoShape 10"/>
          <p:cNvSpPr/>
          <p:nvPr/>
        </p:nvSpPr>
        <p:spPr>
          <a:xfrm flipH="1">
            <a:off x="2476500" y="3238500"/>
            <a:ext cx="6667500" cy="1095375"/>
          </a:xfrm>
          <a:prstGeom prst="line">
            <a:avLst/>
          </a:prstGeom>
          <a:ln w="28575" cap="rnd">
            <a:solidFill>
              <a:srgbClr val="2B3A47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1" name="Group 11"/>
          <p:cNvGrpSpPr/>
          <p:nvPr/>
        </p:nvGrpSpPr>
        <p:grpSpPr>
          <a:xfrm>
            <a:off x="1047750" y="4476750"/>
            <a:ext cx="2857500" cy="1000125"/>
            <a:chOff x="0" y="0"/>
            <a:chExt cx="3810000" cy="13335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810000" cy="1333500"/>
            </a:xfrm>
            <a:custGeom>
              <a:avLst/>
              <a:gdLst/>
              <a:ahLst/>
              <a:cxnLst/>
              <a:rect l="l" t="t" r="r" b="b"/>
              <a:pathLst>
                <a:path w="3810000" h="1333500">
                  <a:moveTo>
                    <a:pt x="59267" y="0"/>
                  </a:moveTo>
                  <a:lnTo>
                    <a:pt x="3750733" y="0"/>
                  </a:lnTo>
                  <a:cubicBezTo>
                    <a:pt x="3783466" y="0"/>
                    <a:pt x="3810000" y="26535"/>
                    <a:pt x="3810000" y="59267"/>
                  </a:cubicBezTo>
                  <a:lnTo>
                    <a:pt x="3810000" y="1274233"/>
                  </a:lnTo>
                  <a:cubicBezTo>
                    <a:pt x="3810000" y="1306965"/>
                    <a:pt x="3783466" y="1333500"/>
                    <a:pt x="3750733" y="1333500"/>
                  </a:cubicBezTo>
                  <a:lnTo>
                    <a:pt x="59267" y="1333500"/>
                  </a:lnTo>
                  <a:cubicBezTo>
                    <a:pt x="26535" y="1333500"/>
                    <a:pt x="0" y="1306965"/>
                    <a:pt x="0" y="1274233"/>
                  </a:cubicBezTo>
                  <a:lnTo>
                    <a:pt x="0" y="59267"/>
                  </a:lnTo>
                  <a:cubicBezTo>
                    <a:pt x="0" y="26535"/>
                    <a:pt x="26535" y="0"/>
                    <a:pt x="59267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57E389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19050"/>
              <a:ext cx="3810000" cy="1314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PROCESSES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 flipH="1">
            <a:off x="5762625" y="3238500"/>
            <a:ext cx="3381375" cy="1095375"/>
          </a:xfrm>
          <a:prstGeom prst="line">
            <a:avLst/>
          </a:prstGeom>
          <a:ln w="28575" cap="rnd">
            <a:solidFill>
              <a:srgbClr val="2B3A47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5" name="Group 15"/>
          <p:cNvGrpSpPr/>
          <p:nvPr/>
        </p:nvGrpSpPr>
        <p:grpSpPr>
          <a:xfrm>
            <a:off x="4333875" y="4476750"/>
            <a:ext cx="2857500" cy="1000125"/>
            <a:chOff x="0" y="0"/>
            <a:chExt cx="3810000" cy="13335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810000" cy="1333500"/>
            </a:xfrm>
            <a:custGeom>
              <a:avLst/>
              <a:gdLst/>
              <a:ahLst/>
              <a:cxnLst/>
              <a:rect l="l" t="t" r="r" b="b"/>
              <a:pathLst>
                <a:path w="3810000" h="1333500">
                  <a:moveTo>
                    <a:pt x="59267" y="0"/>
                  </a:moveTo>
                  <a:lnTo>
                    <a:pt x="3750733" y="0"/>
                  </a:lnTo>
                  <a:cubicBezTo>
                    <a:pt x="3783466" y="0"/>
                    <a:pt x="3810000" y="26535"/>
                    <a:pt x="3810000" y="59267"/>
                  </a:cubicBezTo>
                  <a:lnTo>
                    <a:pt x="3810000" y="1274233"/>
                  </a:lnTo>
                  <a:cubicBezTo>
                    <a:pt x="3810000" y="1306965"/>
                    <a:pt x="3783466" y="1333500"/>
                    <a:pt x="3750733" y="1333500"/>
                  </a:cubicBezTo>
                  <a:lnTo>
                    <a:pt x="59267" y="1333500"/>
                  </a:lnTo>
                  <a:cubicBezTo>
                    <a:pt x="26535" y="1333500"/>
                    <a:pt x="0" y="1306965"/>
                    <a:pt x="0" y="1274233"/>
                  </a:cubicBezTo>
                  <a:lnTo>
                    <a:pt x="0" y="59267"/>
                  </a:lnTo>
                  <a:cubicBezTo>
                    <a:pt x="0" y="26535"/>
                    <a:pt x="26535" y="0"/>
                    <a:pt x="59267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43C6E8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19050"/>
              <a:ext cx="3810000" cy="1314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SIGNALS</a:t>
              </a:r>
            </a:p>
          </p:txBody>
        </p:sp>
      </p:grpSp>
      <p:sp>
        <p:nvSpPr>
          <p:cNvPr id="18" name="AutoShape 18"/>
          <p:cNvSpPr/>
          <p:nvPr/>
        </p:nvSpPr>
        <p:spPr>
          <a:xfrm flipH="1">
            <a:off x="9048750" y="3238500"/>
            <a:ext cx="95250" cy="1095375"/>
          </a:xfrm>
          <a:prstGeom prst="line">
            <a:avLst/>
          </a:prstGeom>
          <a:ln w="28575" cap="rnd">
            <a:solidFill>
              <a:srgbClr val="2B3A47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9" name="Group 19"/>
          <p:cNvGrpSpPr/>
          <p:nvPr/>
        </p:nvGrpSpPr>
        <p:grpSpPr>
          <a:xfrm>
            <a:off x="7620000" y="4476750"/>
            <a:ext cx="2857500" cy="1000125"/>
            <a:chOff x="0" y="0"/>
            <a:chExt cx="3810000" cy="13335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810000" cy="1333500"/>
            </a:xfrm>
            <a:custGeom>
              <a:avLst/>
              <a:gdLst/>
              <a:ahLst/>
              <a:cxnLst/>
              <a:rect l="l" t="t" r="r" b="b"/>
              <a:pathLst>
                <a:path w="3810000" h="1333500">
                  <a:moveTo>
                    <a:pt x="59267" y="0"/>
                  </a:moveTo>
                  <a:lnTo>
                    <a:pt x="3750733" y="0"/>
                  </a:lnTo>
                  <a:cubicBezTo>
                    <a:pt x="3783466" y="0"/>
                    <a:pt x="3810000" y="26535"/>
                    <a:pt x="3810000" y="59267"/>
                  </a:cubicBezTo>
                  <a:lnTo>
                    <a:pt x="3810000" y="1274233"/>
                  </a:lnTo>
                  <a:cubicBezTo>
                    <a:pt x="3810000" y="1306965"/>
                    <a:pt x="3783466" y="1333500"/>
                    <a:pt x="3750733" y="1333500"/>
                  </a:cubicBezTo>
                  <a:lnTo>
                    <a:pt x="59267" y="1333500"/>
                  </a:lnTo>
                  <a:cubicBezTo>
                    <a:pt x="26535" y="1333500"/>
                    <a:pt x="0" y="1306965"/>
                    <a:pt x="0" y="1274233"/>
                  </a:cubicBezTo>
                  <a:lnTo>
                    <a:pt x="0" y="59267"/>
                  </a:lnTo>
                  <a:cubicBezTo>
                    <a:pt x="0" y="26535"/>
                    <a:pt x="26535" y="0"/>
                    <a:pt x="59267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57E389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19050"/>
              <a:ext cx="3810000" cy="1314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IPC / PIPES</a:t>
              </a:r>
            </a:p>
          </p:txBody>
        </p:sp>
      </p:grpSp>
      <p:sp>
        <p:nvSpPr>
          <p:cNvPr id="22" name="AutoShape 22"/>
          <p:cNvSpPr/>
          <p:nvPr/>
        </p:nvSpPr>
        <p:spPr>
          <a:xfrm>
            <a:off x="9144000" y="3238500"/>
            <a:ext cx="3190875" cy="1095375"/>
          </a:xfrm>
          <a:prstGeom prst="line">
            <a:avLst/>
          </a:prstGeom>
          <a:ln w="28575" cap="rnd">
            <a:solidFill>
              <a:srgbClr val="2B3A47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3" name="Group 23"/>
          <p:cNvGrpSpPr/>
          <p:nvPr/>
        </p:nvGrpSpPr>
        <p:grpSpPr>
          <a:xfrm>
            <a:off x="10906125" y="4476750"/>
            <a:ext cx="2857500" cy="1000125"/>
            <a:chOff x="0" y="0"/>
            <a:chExt cx="3810000" cy="13335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810000" cy="1333500"/>
            </a:xfrm>
            <a:custGeom>
              <a:avLst/>
              <a:gdLst/>
              <a:ahLst/>
              <a:cxnLst/>
              <a:rect l="l" t="t" r="r" b="b"/>
              <a:pathLst>
                <a:path w="3810000" h="1333500">
                  <a:moveTo>
                    <a:pt x="59267" y="0"/>
                  </a:moveTo>
                  <a:lnTo>
                    <a:pt x="3750733" y="0"/>
                  </a:lnTo>
                  <a:cubicBezTo>
                    <a:pt x="3783466" y="0"/>
                    <a:pt x="3810000" y="26535"/>
                    <a:pt x="3810000" y="59267"/>
                  </a:cubicBezTo>
                  <a:lnTo>
                    <a:pt x="3810000" y="1274233"/>
                  </a:lnTo>
                  <a:cubicBezTo>
                    <a:pt x="3810000" y="1306965"/>
                    <a:pt x="3783466" y="1333500"/>
                    <a:pt x="3750733" y="1333500"/>
                  </a:cubicBezTo>
                  <a:lnTo>
                    <a:pt x="59267" y="1333500"/>
                  </a:lnTo>
                  <a:cubicBezTo>
                    <a:pt x="26535" y="1333500"/>
                    <a:pt x="0" y="1306965"/>
                    <a:pt x="0" y="1274233"/>
                  </a:cubicBezTo>
                  <a:lnTo>
                    <a:pt x="0" y="59267"/>
                  </a:lnTo>
                  <a:cubicBezTo>
                    <a:pt x="0" y="26535"/>
                    <a:pt x="26535" y="0"/>
                    <a:pt x="59267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43C6E8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19050"/>
              <a:ext cx="3810000" cy="1314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REDIRECTION</a:t>
              </a:r>
            </a:p>
          </p:txBody>
        </p:sp>
      </p:grpSp>
      <p:sp>
        <p:nvSpPr>
          <p:cNvPr id="26" name="AutoShape 26"/>
          <p:cNvSpPr/>
          <p:nvPr/>
        </p:nvSpPr>
        <p:spPr>
          <a:xfrm>
            <a:off x="9144000" y="3238500"/>
            <a:ext cx="6477000" cy="1095375"/>
          </a:xfrm>
          <a:prstGeom prst="line">
            <a:avLst/>
          </a:prstGeom>
          <a:ln w="28575" cap="rnd">
            <a:solidFill>
              <a:srgbClr val="2B3A47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7" name="Group 27"/>
          <p:cNvGrpSpPr/>
          <p:nvPr/>
        </p:nvGrpSpPr>
        <p:grpSpPr>
          <a:xfrm>
            <a:off x="14192250" y="4476750"/>
            <a:ext cx="2857500" cy="1000125"/>
            <a:chOff x="0" y="0"/>
            <a:chExt cx="3810000" cy="13335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810000" cy="1333500"/>
            </a:xfrm>
            <a:custGeom>
              <a:avLst/>
              <a:gdLst/>
              <a:ahLst/>
              <a:cxnLst/>
              <a:rect l="l" t="t" r="r" b="b"/>
              <a:pathLst>
                <a:path w="3810000" h="1333500">
                  <a:moveTo>
                    <a:pt x="59267" y="0"/>
                  </a:moveTo>
                  <a:lnTo>
                    <a:pt x="3750733" y="0"/>
                  </a:lnTo>
                  <a:cubicBezTo>
                    <a:pt x="3783466" y="0"/>
                    <a:pt x="3810000" y="26535"/>
                    <a:pt x="3810000" y="59267"/>
                  </a:cubicBezTo>
                  <a:lnTo>
                    <a:pt x="3810000" y="1274233"/>
                  </a:lnTo>
                  <a:cubicBezTo>
                    <a:pt x="3810000" y="1306965"/>
                    <a:pt x="3783466" y="1333500"/>
                    <a:pt x="3750733" y="1333500"/>
                  </a:cubicBezTo>
                  <a:lnTo>
                    <a:pt x="59267" y="1333500"/>
                  </a:lnTo>
                  <a:cubicBezTo>
                    <a:pt x="26535" y="1333500"/>
                    <a:pt x="0" y="1306965"/>
                    <a:pt x="0" y="1274233"/>
                  </a:cubicBezTo>
                  <a:lnTo>
                    <a:pt x="0" y="59267"/>
                  </a:lnTo>
                  <a:cubicBezTo>
                    <a:pt x="0" y="26535"/>
                    <a:pt x="26535" y="0"/>
                    <a:pt x="59267" y="0"/>
                  </a:cubicBezTo>
                  <a:close/>
                </a:path>
              </a:pathLst>
            </a:custGeom>
            <a:solidFill>
              <a:srgbClr val="1B2632"/>
            </a:solidFill>
            <a:ln w="19050" cap="sq">
              <a:solidFill>
                <a:srgbClr val="57E389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19050"/>
              <a:ext cx="3810000" cy="1314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MONITOR / THREADS</a:t>
              </a:r>
            </a:p>
          </p:txBody>
        </p:sp>
      </p:grpSp>
      <p:sp>
        <p:nvSpPr>
          <p:cNvPr id="30" name="AutoShape 30"/>
          <p:cNvSpPr/>
          <p:nvPr/>
        </p:nvSpPr>
        <p:spPr>
          <a:xfrm>
            <a:off x="9144000" y="5476875"/>
            <a:ext cx="0" cy="1190625"/>
          </a:xfrm>
          <a:prstGeom prst="line">
            <a:avLst/>
          </a:prstGeom>
          <a:ln w="28575" cap="rnd">
            <a:solidFill>
              <a:srgbClr val="57E389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1" name="Group 31"/>
          <p:cNvGrpSpPr/>
          <p:nvPr/>
        </p:nvGrpSpPr>
        <p:grpSpPr>
          <a:xfrm>
            <a:off x="4762500" y="6810375"/>
            <a:ext cx="8763000" cy="1000125"/>
            <a:chOff x="0" y="0"/>
            <a:chExt cx="11684000" cy="13335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1684000" cy="1333500"/>
            </a:xfrm>
            <a:custGeom>
              <a:avLst/>
              <a:gdLst/>
              <a:ahLst/>
              <a:cxnLst/>
              <a:rect l="l" t="t" r="r" b="b"/>
              <a:pathLst>
                <a:path w="11684000" h="1333500">
                  <a:moveTo>
                    <a:pt x="19326" y="0"/>
                  </a:moveTo>
                  <a:lnTo>
                    <a:pt x="11664674" y="0"/>
                  </a:lnTo>
                  <a:cubicBezTo>
                    <a:pt x="11669799" y="0"/>
                    <a:pt x="11674715" y="2036"/>
                    <a:pt x="11678340" y="5660"/>
                  </a:cubicBezTo>
                  <a:cubicBezTo>
                    <a:pt x="11681964" y="9285"/>
                    <a:pt x="11684000" y="14200"/>
                    <a:pt x="11684000" y="19326"/>
                  </a:cubicBezTo>
                  <a:lnTo>
                    <a:pt x="11684000" y="1314174"/>
                  </a:lnTo>
                  <a:cubicBezTo>
                    <a:pt x="11684000" y="1319300"/>
                    <a:pt x="11681964" y="1324215"/>
                    <a:pt x="11678340" y="1327839"/>
                  </a:cubicBezTo>
                  <a:cubicBezTo>
                    <a:pt x="11674715" y="1331464"/>
                    <a:pt x="11669799" y="1333500"/>
                    <a:pt x="11664674" y="1333500"/>
                  </a:cubicBezTo>
                  <a:lnTo>
                    <a:pt x="19326" y="1333500"/>
                  </a:lnTo>
                  <a:cubicBezTo>
                    <a:pt x="14200" y="1333500"/>
                    <a:pt x="9285" y="1331464"/>
                    <a:pt x="5660" y="1327839"/>
                  </a:cubicBezTo>
                  <a:cubicBezTo>
                    <a:pt x="2036" y="1324215"/>
                    <a:pt x="0" y="1319300"/>
                    <a:pt x="0" y="1314174"/>
                  </a:cubicBezTo>
                  <a:lnTo>
                    <a:pt x="0" y="19326"/>
                  </a:lnTo>
                  <a:cubicBezTo>
                    <a:pt x="0" y="14200"/>
                    <a:pt x="2036" y="9285"/>
                    <a:pt x="5660" y="5660"/>
                  </a:cubicBezTo>
                  <a:cubicBezTo>
                    <a:pt x="9285" y="2036"/>
                    <a:pt x="14200" y="0"/>
                    <a:pt x="19326" y="0"/>
                  </a:cubicBezTo>
                  <a:close/>
                </a:path>
              </a:pathLst>
            </a:custGeom>
            <a:solidFill>
              <a:srgbClr val="10231B"/>
            </a:solidFill>
            <a:ln w="19050" cap="sq">
              <a:solidFill>
                <a:srgbClr val="57E389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19050"/>
              <a:ext cx="11684000" cy="1314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4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EXTENSIONS · NEW COMMANDS · IPC METHODS · MONITORING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2000250" y="8258175"/>
            <a:ext cx="14287500" cy="307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1"/>
              </a:lnSpc>
            </a:pPr>
            <a:r>
              <a:rPr lang="en-US" sz="1875">
                <a:solidFill>
                  <a:srgbClr val="F4F7FA"/>
                </a:solidFill>
                <a:latin typeface="Open Sans"/>
                <a:ea typeface="Open Sans"/>
                <a:cs typeface="Open Sans"/>
                <a:sym typeface="Open Sans"/>
              </a:rPr>
              <a:t>NOVELTY  /  one CLI integrates process lifecycle, signals, IPC and concurrency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000250" y="8686800"/>
            <a:ext cx="14287500" cy="307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1"/>
              </a:lnSpc>
            </a:pPr>
            <a:r>
              <a:rPr lang="en-US" sz="1875">
                <a:solidFill>
                  <a:srgbClr val="F4F7FA"/>
                </a:solidFill>
                <a:latin typeface="Open Sans"/>
                <a:ea typeface="Open Sans"/>
                <a:cs typeface="Open Sans"/>
                <a:sym typeface="Open Sans"/>
              </a:rPr>
              <a:t>ADAPTABILITY  /  separate modules keep future system features low-coupled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14400" y="9791700"/>
            <a:ext cx="164592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74"/>
              </a:lnSpc>
            </a:pPr>
            <a:r>
              <a:rPr lang="en-US" sz="1125" b="1" spc="89">
                <a:solidFill>
                  <a:srgbClr val="9BACB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INTERACTIVE PROCESS MANAGEMENT SYSTEM     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23875"/>
            <a:ext cx="857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43C6E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EVALUATION AREA 03 · VERIFIED, NOT BENCHMARKED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038225"/>
            <a:ext cx="14287500" cy="587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1">
                <a:solidFill>
                  <a:srgbClr val="F4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Methodology Evaluation &amp; Testing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1809750"/>
            <a:ext cx="16459200" cy="19050"/>
            <a:chOff x="0" y="0"/>
            <a:chExt cx="21945600" cy="25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5400"/>
            </a:xfrm>
            <a:custGeom>
              <a:avLst/>
              <a:gdLst/>
              <a:ahLst/>
              <a:cxnLst/>
              <a:rect l="l" t="t" r="r" b="b"/>
              <a:pathLst>
                <a:path w="21945600" h="254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B3A47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38250" y="2333625"/>
            <a:ext cx="15811500" cy="704850"/>
            <a:chOff x="0" y="0"/>
            <a:chExt cx="21082000" cy="939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082000" cy="939800"/>
            </a:xfrm>
            <a:custGeom>
              <a:avLst/>
              <a:gdLst/>
              <a:ahLst/>
              <a:cxnLst/>
              <a:rect l="l" t="t" r="r" b="b"/>
              <a:pathLst>
                <a:path w="21082000" h="939800">
                  <a:moveTo>
                    <a:pt x="0" y="0"/>
                  </a:moveTo>
                  <a:lnTo>
                    <a:pt x="21082000" y="0"/>
                  </a:lnTo>
                  <a:lnTo>
                    <a:pt x="210820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1B2632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1082000" cy="977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38250" y="3209925"/>
            <a:ext cx="15811500" cy="704850"/>
            <a:chOff x="0" y="0"/>
            <a:chExt cx="21082000" cy="939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082000" cy="939800"/>
            </a:xfrm>
            <a:custGeom>
              <a:avLst/>
              <a:gdLst/>
              <a:ahLst/>
              <a:cxnLst/>
              <a:rect l="l" t="t" r="r" b="b"/>
              <a:pathLst>
                <a:path w="21082000" h="939800">
                  <a:moveTo>
                    <a:pt x="0" y="0"/>
                  </a:moveTo>
                  <a:lnTo>
                    <a:pt x="21082000" y="0"/>
                  </a:lnTo>
                  <a:lnTo>
                    <a:pt x="210820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151D26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1082000" cy="977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38250" y="4086225"/>
            <a:ext cx="15811500" cy="704850"/>
            <a:chOff x="0" y="0"/>
            <a:chExt cx="21082000" cy="939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082000" cy="939800"/>
            </a:xfrm>
            <a:custGeom>
              <a:avLst/>
              <a:gdLst/>
              <a:ahLst/>
              <a:cxnLst/>
              <a:rect l="l" t="t" r="r" b="b"/>
              <a:pathLst>
                <a:path w="21082000" h="939800">
                  <a:moveTo>
                    <a:pt x="0" y="0"/>
                  </a:moveTo>
                  <a:lnTo>
                    <a:pt x="21082000" y="0"/>
                  </a:lnTo>
                  <a:lnTo>
                    <a:pt x="210820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151D26"/>
            </a:solid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1082000" cy="977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38250" y="4962525"/>
            <a:ext cx="15811500" cy="704850"/>
            <a:chOff x="0" y="0"/>
            <a:chExt cx="21082000" cy="939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082000" cy="939800"/>
            </a:xfrm>
            <a:custGeom>
              <a:avLst/>
              <a:gdLst/>
              <a:ahLst/>
              <a:cxnLst/>
              <a:rect l="l" t="t" r="r" b="b"/>
              <a:pathLst>
                <a:path w="21082000" h="939800">
                  <a:moveTo>
                    <a:pt x="0" y="0"/>
                  </a:moveTo>
                  <a:lnTo>
                    <a:pt x="21082000" y="0"/>
                  </a:lnTo>
                  <a:lnTo>
                    <a:pt x="210820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151D26"/>
            </a:solidFill>
            <a:ln cap="sq">
              <a:noFill/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1082000" cy="977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38250" y="5838825"/>
            <a:ext cx="15811500" cy="704850"/>
            <a:chOff x="0" y="0"/>
            <a:chExt cx="21082000" cy="939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082000" cy="939800"/>
            </a:xfrm>
            <a:custGeom>
              <a:avLst/>
              <a:gdLst/>
              <a:ahLst/>
              <a:cxnLst/>
              <a:rect l="l" t="t" r="r" b="b"/>
              <a:pathLst>
                <a:path w="21082000" h="939800">
                  <a:moveTo>
                    <a:pt x="0" y="0"/>
                  </a:moveTo>
                  <a:lnTo>
                    <a:pt x="21082000" y="0"/>
                  </a:lnTo>
                  <a:lnTo>
                    <a:pt x="210820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151D26"/>
            </a:solidFill>
            <a:ln cap="sq">
              <a:noFill/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21082000" cy="977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38250" y="6715125"/>
            <a:ext cx="15811500" cy="704850"/>
            <a:chOff x="0" y="0"/>
            <a:chExt cx="21082000" cy="939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082000" cy="939800"/>
            </a:xfrm>
            <a:custGeom>
              <a:avLst/>
              <a:gdLst/>
              <a:ahLst/>
              <a:cxnLst/>
              <a:rect l="l" t="t" r="r" b="b"/>
              <a:pathLst>
                <a:path w="21082000" h="939800">
                  <a:moveTo>
                    <a:pt x="0" y="0"/>
                  </a:moveTo>
                  <a:lnTo>
                    <a:pt x="21082000" y="0"/>
                  </a:lnTo>
                  <a:lnTo>
                    <a:pt x="210820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151D26"/>
            </a:solidFill>
            <a:ln cap="sq">
              <a:noFill/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21082000" cy="977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38250" y="7591425"/>
            <a:ext cx="15811500" cy="704850"/>
            <a:chOff x="0" y="0"/>
            <a:chExt cx="21082000" cy="939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1082000" cy="939800"/>
            </a:xfrm>
            <a:custGeom>
              <a:avLst/>
              <a:gdLst/>
              <a:ahLst/>
              <a:cxnLst/>
              <a:rect l="l" t="t" r="r" b="b"/>
              <a:pathLst>
                <a:path w="21082000" h="939800">
                  <a:moveTo>
                    <a:pt x="0" y="0"/>
                  </a:moveTo>
                  <a:lnTo>
                    <a:pt x="21082000" y="0"/>
                  </a:lnTo>
                  <a:lnTo>
                    <a:pt x="210820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151D26"/>
            </a:solidFill>
            <a:ln cap="sq">
              <a:noFill/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21082000" cy="977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571625" y="2505075"/>
            <a:ext cx="4476750" cy="240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b="1" spc="114">
                <a:solidFill>
                  <a:srgbClr val="43C6E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FEATURE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572250" y="2505075"/>
            <a:ext cx="6191250" cy="240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b="1" spc="114">
                <a:solidFill>
                  <a:srgbClr val="43C6E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TEST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716000" y="2505075"/>
            <a:ext cx="2857500" cy="240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95"/>
              </a:lnSpc>
            </a:pPr>
            <a:r>
              <a:rPr lang="en-US" sz="1425" b="1" spc="114">
                <a:solidFill>
                  <a:srgbClr val="43C6E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RESULT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571625" y="3390900"/>
            <a:ext cx="4476750" cy="281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F4F7FA"/>
                </a:solidFill>
                <a:latin typeface="Open Sans"/>
                <a:ea typeface="Open Sans"/>
                <a:cs typeface="Open Sans"/>
                <a:sym typeface="Open Sans"/>
              </a:rPr>
              <a:t>Command Parsing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572250" y="3381375"/>
            <a:ext cx="6191250" cy="290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9BACBA"/>
                </a:solidFill>
                <a:latin typeface="IBM Plex Mono"/>
                <a:ea typeface="IBM Plex Mono"/>
                <a:cs typeface="IBM Plex Mono"/>
                <a:sym typeface="IBM Plex Mono"/>
              </a:rPr>
              <a:t>Interactive commands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716000" y="3371850"/>
            <a:ext cx="2857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sz="1650" b="1" spc="132">
                <a:solidFill>
                  <a:srgbClr val="57E389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VERIFIED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571625" y="4267200"/>
            <a:ext cx="4476750" cy="281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F4F7FA"/>
                </a:solidFill>
                <a:latin typeface="Open Sans"/>
                <a:ea typeface="Open Sans"/>
                <a:cs typeface="Open Sans"/>
                <a:sym typeface="Open Sans"/>
              </a:rPr>
              <a:t>Process Execution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572250" y="4257675"/>
            <a:ext cx="6191250" cy="290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9BACBA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fork · execvp · waitpid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716000" y="4248150"/>
            <a:ext cx="2857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sz="1650" b="1" spc="132">
                <a:solidFill>
                  <a:srgbClr val="57E389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VERIFIED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571625" y="5143500"/>
            <a:ext cx="4476750" cy="281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F4F7FA"/>
                </a:solidFill>
                <a:latin typeface="Open Sans"/>
                <a:ea typeface="Open Sans"/>
                <a:cs typeface="Open Sans"/>
                <a:sym typeface="Open Sans"/>
              </a:rPr>
              <a:t>Process Control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572250" y="5133975"/>
            <a:ext cx="6191250" cy="290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9BACBA"/>
                </a:solidFill>
                <a:latin typeface="IBM Plex Mono"/>
                <a:ea typeface="IBM Plex Mono"/>
                <a:cs typeface="IBM Plex Mono"/>
                <a:sym typeface="IBM Plex Mono"/>
              </a:rPr>
              <a:t>Signals / states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3716000" y="5124450"/>
            <a:ext cx="2857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sz="1650" b="1" spc="132">
                <a:solidFill>
                  <a:srgbClr val="57E389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VERIFIED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571625" y="6019800"/>
            <a:ext cx="4476750" cy="281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F4F7FA"/>
                </a:solidFill>
                <a:latin typeface="Open Sans"/>
                <a:ea typeface="Open Sans"/>
                <a:cs typeface="Open Sans"/>
                <a:sym typeface="Open Sans"/>
              </a:rPr>
              <a:t>Pipes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572250" y="6010275"/>
            <a:ext cx="6191250" cy="290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9BACBA"/>
                </a:solidFill>
                <a:latin typeface="IBM Plex Mono"/>
                <a:ea typeface="IBM Plex Mono"/>
                <a:cs typeface="IBM Plex Mono"/>
                <a:sym typeface="IBM Plex Mono"/>
              </a:rPr>
              <a:t>ls | grep src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3716000" y="6000750"/>
            <a:ext cx="2857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sz="1650" b="1" spc="132">
                <a:solidFill>
                  <a:srgbClr val="57E389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VERIFIED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571625" y="6896100"/>
            <a:ext cx="4476750" cy="281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F4F7FA"/>
                </a:solidFill>
                <a:latin typeface="Open Sans"/>
                <a:ea typeface="Open Sans"/>
                <a:cs typeface="Open Sans"/>
                <a:sym typeface="Open Sans"/>
              </a:rPr>
              <a:t>Redirection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572250" y="6886575"/>
            <a:ext cx="6191250" cy="290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9BACBA"/>
                </a:solidFill>
                <a:latin typeface="IBM Plex Mono"/>
                <a:ea typeface="IBM Plex Mono"/>
                <a:cs typeface="IBM Plex Mono"/>
                <a:sym typeface="IBM Plex Mono"/>
              </a:rPr>
              <a:t>&gt;  &gt;&gt;  &lt;  2&gt;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3716000" y="6877050"/>
            <a:ext cx="2857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sz="1650" b="1" spc="132">
                <a:solidFill>
                  <a:srgbClr val="57E389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VERIFIED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571625" y="7772400"/>
            <a:ext cx="4476750" cy="281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F4F7FA"/>
                </a:solidFill>
                <a:latin typeface="Open Sans"/>
                <a:ea typeface="Open Sans"/>
                <a:cs typeface="Open Sans"/>
                <a:sym typeface="Open Sans"/>
              </a:rPr>
              <a:t>Memory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572250" y="7762875"/>
            <a:ext cx="6191250" cy="290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9BACBA"/>
                </a:solidFill>
                <a:latin typeface="IBM Plex Mono"/>
                <a:ea typeface="IBM Plex Mono"/>
                <a:cs typeface="IBM Plex Mono"/>
                <a:sym typeface="IBM Plex Mono"/>
              </a:rPr>
              <a:t>Valgrind + AddressSanitizer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3716000" y="7753350"/>
            <a:ext cx="2857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sz="1650" b="1" spc="132">
                <a:solidFill>
                  <a:srgbClr val="57E389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 ERRORS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476500" y="8686800"/>
            <a:ext cx="13335000" cy="307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1"/>
              </a:lnSpc>
            </a:pPr>
            <a:r>
              <a:rPr lang="en-US" sz="1875">
                <a:solidFill>
                  <a:srgbClr val="9BACBA"/>
                </a:solidFill>
                <a:latin typeface="Open Sans"/>
                <a:ea typeface="Open Sans"/>
                <a:cs typeface="Open Sans"/>
                <a:sym typeface="Open Sans"/>
              </a:rPr>
              <a:t>Memory result: all heap blocks freed. No fabricated performance figures are reported.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14400" y="9791700"/>
            <a:ext cx="164592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74"/>
              </a:lnSpc>
            </a:pPr>
            <a:r>
              <a:rPr lang="en-US" sz="1125" b="1" spc="89">
                <a:solidFill>
                  <a:srgbClr val="9BACB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INTERACTIVE PROCESS MANAGEMENT SYSTEM     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23875"/>
            <a:ext cx="857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43C6E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EVALUATION AREAS 04 + 05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038225"/>
            <a:ext cx="14287500" cy="587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1">
                <a:solidFill>
                  <a:srgbClr val="F4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Structure &amp; Accessibility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1809750"/>
            <a:ext cx="16459200" cy="19050"/>
            <a:chOff x="0" y="0"/>
            <a:chExt cx="21945600" cy="25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5400"/>
            </a:xfrm>
            <a:custGeom>
              <a:avLst/>
              <a:gdLst/>
              <a:ahLst/>
              <a:cxnLst/>
              <a:rect l="l" t="t" r="r" b="b"/>
              <a:pathLst>
                <a:path w="21945600" h="254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B3A47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47750" y="2238375"/>
            <a:ext cx="10287000" cy="6667500"/>
            <a:chOff x="0" y="0"/>
            <a:chExt cx="13716000" cy="889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716000" cy="8890000"/>
            </a:xfrm>
            <a:custGeom>
              <a:avLst/>
              <a:gdLst/>
              <a:ahLst/>
              <a:cxnLst/>
              <a:rect l="l" t="t" r="r" b="b"/>
              <a:pathLst>
                <a:path w="13716000" h="8890000">
                  <a:moveTo>
                    <a:pt x="0" y="0"/>
                  </a:moveTo>
                  <a:lnTo>
                    <a:pt x="13716000" y="0"/>
                  </a:lnTo>
                  <a:lnTo>
                    <a:pt x="13716000" y="8890000"/>
                  </a:lnTo>
                  <a:lnTo>
                    <a:pt x="0" y="8890000"/>
                  </a:lnTo>
                  <a:close/>
                </a:path>
              </a:pathLst>
            </a:custGeom>
            <a:solidFill>
              <a:srgbClr val="05080B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3716000" cy="892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381125" y="2495550"/>
            <a:ext cx="9525000" cy="3042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F4F7FA"/>
                </a:solidFill>
                <a:latin typeface="IBM Plex Mono"/>
                <a:ea typeface="IBM Plex Mono"/>
                <a:cs typeface="IBM Plex Mono"/>
                <a:sym typeface="IBM Plex Mono"/>
              </a:rPr>
              <a:t>InteractiveProcessManager/</a:t>
            </a:r>
          </a:p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F4F7FA"/>
                </a:solidFill>
                <a:latin typeface="IBM Plex Mono"/>
                <a:ea typeface="IBM Plex Mono"/>
                <a:cs typeface="IBM Plex Mono"/>
                <a:sym typeface="IBM Plex Mono"/>
              </a:rPr>
              <a:t>├── bin/</a:t>
            </a:r>
          </a:p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F4F7FA"/>
                </a:solidFill>
                <a:latin typeface="IBM Plex Mono"/>
                <a:ea typeface="IBM Plex Mono"/>
                <a:cs typeface="IBM Plex Mono"/>
                <a:sym typeface="IBM Plex Mono"/>
              </a:rPr>
              <a:t>│   ├── process_manager</a:t>
            </a:r>
          </a:p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F4F7FA"/>
                </a:solidFill>
                <a:latin typeface="IBM Plex Mono"/>
                <a:ea typeface="IBM Plex Mono"/>
                <a:cs typeface="IBM Plex Mono"/>
                <a:sym typeface="IBM Plex Mono"/>
              </a:rPr>
              <a:t>│   └── process_manager_asan</a:t>
            </a:r>
          </a:p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F4F7FA"/>
                </a:solidFill>
                <a:latin typeface="IBM Plex Mono"/>
                <a:ea typeface="IBM Plex Mono"/>
                <a:cs typeface="IBM Plex Mono"/>
                <a:sym typeface="IBM Plex Mono"/>
              </a:rPr>
              <a:t>├── include/</a:t>
            </a:r>
          </a:p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F4F7FA"/>
                </a:solidFill>
                <a:latin typeface="IBM Plex Mono"/>
                <a:ea typeface="IBM Plex Mono"/>
                <a:cs typeface="IBM Plex Mono"/>
                <a:sym typeface="IBM Plex Mono"/>
              </a:rPr>
              <a:t>│   ├── input.h · parser.h · process.h</a:t>
            </a:r>
          </a:p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F4F7FA"/>
                </a:solidFill>
                <a:latin typeface="IBM Plex Mono"/>
                <a:ea typeface="IBM Plex Mono"/>
                <a:cs typeface="IBM Plex Mono"/>
                <a:sym typeface="IBM Plex Mono"/>
              </a:rPr>
              <a:t>│   └── monitor.h · pipes.h · redirect.h · signals.h · thread.h</a:t>
            </a:r>
          </a:p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F4F7FA"/>
                </a:solidFill>
                <a:latin typeface="IBM Plex Mono"/>
                <a:ea typeface="IBM Plex Mono"/>
                <a:cs typeface="IBM Plex Mono"/>
                <a:sym typeface="IBM Plex Mono"/>
              </a:rPr>
              <a:t>└── src/</a:t>
            </a:r>
          </a:p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F4F7FA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 ├── main.c · input.c · parser.c · process.c</a:t>
            </a:r>
          </a:p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F4F7FA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 └── monitor.c · pipes.c · redirect.c · signals.c · thread.c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001500" y="2638425"/>
            <a:ext cx="428625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43C6E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BUILD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01500" y="3067050"/>
            <a:ext cx="4286250" cy="693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4F7FA"/>
                </a:solidFill>
                <a:latin typeface="Open Sans"/>
                <a:ea typeface="Open Sans"/>
                <a:cs typeface="Open Sans"/>
                <a:sym typeface="Open Sans"/>
              </a:rPr>
              <a:t>GCC on Linux / Ubuntu</a:t>
            </a:r>
          </a:p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4F7FA"/>
                </a:solidFill>
                <a:latin typeface="Open Sans"/>
                <a:ea typeface="Open Sans"/>
                <a:cs typeface="Open Sans"/>
                <a:sym typeface="Open Sans"/>
              </a:rPr>
              <a:t>POSIX programming environment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001500" y="4924425"/>
            <a:ext cx="428625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43C6E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ACCESSIBILITY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001500" y="5353050"/>
            <a:ext cx="4286250" cy="693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4F7FA"/>
                </a:solidFill>
                <a:latin typeface="Open Sans"/>
                <a:ea typeface="Open Sans"/>
                <a:cs typeface="Open Sans"/>
                <a:sym typeface="Open Sans"/>
              </a:rPr>
              <a:t>Modular headers + sources</a:t>
            </a:r>
          </a:p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4F7FA"/>
                </a:solidFill>
                <a:latin typeface="Open Sans"/>
                <a:ea typeface="Open Sans"/>
                <a:cs typeface="Open Sans"/>
                <a:sym typeface="Open Sans"/>
              </a:rPr>
              <a:t>Git / GitHub version control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001500" y="7210425"/>
            <a:ext cx="428625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43C6E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VALIDATION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001500" y="7639050"/>
            <a:ext cx="4286250" cy="693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4F7FA"/>
                </a:solidFill>
                <a:latin typeface="Open Sans"/>
                <a:ea typeface="Open Sans"/>
                <a:cs typeface="Open Sans"/>
                <a:sym typeface="Open Sans"/>
              </a:rPr>
              <a:t>Structured tests</a:t>
            </a:r>
          </a:p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4F7FA"/>
                </a:solidFill>
                <a:latin typeface="Open Sans"/>
                <a:ea typeface="Open Sans"/>
                <a:cs typeface="Open Sans"/>
                <a:sym typeface="Open Sans"/>
              </a:rPr>
              <a:t>ASan + Valgrind integrated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4400" y="9791700"/>
            <a:ext cx="164592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74"/>
              </a:lnSpc>
            </a:pPr>
            <a:r>
              <a:rPr lang="en-US" sz="1125" b="1" spc="89">
                <a:solidFill>
                  <a:srgbClr val="9BACB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INTERACTIVE PROCESS MANAGEMENT SYSTEM     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10750" y="0"/>
            <a:ext cx="95250" cy="10287000"/>
            <a:chOff x="0" y="0"/>
            <a:chExt cx="127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7000" cy="13716000"/>
            </a:xfrm>
            <a:custGeom>
              <a:avLst/>
              <a:gdLst/>
              <a:ahLst/>
              <a:cxnLst/>
              <a:rect l="l" t="t" r="r" b="b"/>
              <a:pathLst>
                <a:path w="127000" h="13716000">
                  <a:moveTo>
                    <a:pt x="0" y="0"/>
                  </a:moveTo>
                  <a:lnTo>
                    <a:pt x="127000" y="0"/>
                  </a:lnTo>
                  <a:lnTo>
                    <a:pt x="127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7E389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7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14400" y="733425"/>
            <a:ext cx="7620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20">
                <a:solidFill>
                  <a:srgbClr val="43C6E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PROJECT COMPLETE  /  SYSTEM READY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" y="1600200"/>
            <a:ext cx="10477500" cy="1455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5400" b="1">
                <a:solidFill>
                  <a:srgbClr val="F4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practical bridge from</a:t>
            </a:r>
          </a:p>
          <a:p>
            <a:pPr algn="l">
              <a:lnSpc>
                <a:spcPts val="5670"/>
              </a:lnSpc>
            </a:pPr>
            <a:r>
              <a:rPr lang="en-US" sz="5400" b="1">
                <a:solidFill>
                  <a:srgbClr val="F4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OS theory to Linux reality.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4352925"/>
            <a:ext cx="4762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20">
                <a:solidFill>
                  <a:srgbClr val="57E389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IMPLEMENTED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" y="4772025"/>
            <a:ext cx="8572500" cy="685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4F7FA"/>
                </a:solidFill>
                <a:latin typeface="Open Sans"/>
                <a:ea typeface="Open Sans"/>
                <a:cs typeface="Open Sans"/>
                <a:sym typeface="Open Sans"/>
              </a:rPr>
              <a:t>Process lifecycle · FG/BG control · POSIX signals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4F7FA"/>
                </a:solidFill>
                <a:latin typeface="Open Sans"/>
                <a:ea typeface="Open Sans"/>
                <a:cs typeface="Open Sans"/>
                <a:sym typeface="Open Sans"/>
              </a:rPr>
              <a:t>Pipes · I/O redirection · monitor thread · memory validation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668000" y="1971675"/>
            <a:ext cx="5715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20">
                <a:solidFill>
                  <a:srgbClr val="43C6E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FUTURE SCOPE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668000" y="2495550"/>
            <a:ext cx="5715000" cy="2271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F4F7FA"/>
                </a:solidFill>
                <a:latin typeface="Open Sans"/>
                <a:ea typeface="Open Sans"/>
                <a:cs typeface="Open Sans"/>
                <a:sym typeface="Open Sans"/>
              </a:rPr>
              <a:t>Advanced parsing</a:t>
            </a:r>
          </a:p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F4F7FA"/>
                </a:solidFill>
                <a:latin typeface="Open Sans"/>
                <a:ea typeface="Open Sans"/>
                <a:cs typeface="Open Sans"/>
                <a:sym typeface="Open Sans"/>
              </a:rPr>
              <a:t>State visualization</a:t>
            </a:r>
          </a:p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F4F7FA"/>
                </a:solidFill>
                <a:latin typeface="Open Sans"/>
                <a:ea typeface="Open Sans"/>
                <a:cs typeface="Open Sans"/>
                <a:sym typeface="Open Sans"/>
              </a:rPr>
              <a:t>Additional IPC</a:t>
            </a:r>
          </a:p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F4F7FA"/>
                </a:solidFill>
                <a:latin typeface="Open Sans"/>
                <a:ea typeface="Open Sans"/>
                <a:cs typeface="Open Sans"/>
                <a:sym typeface="Open Sans"/>
              </a:rPr>
              <a:t>Job control &amp; history</a:t>
            </a:r>
          </a:p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F4F7FA"/>
                </a:solidFill>
                <a:latin typeface="Open Sans"/>
                <a:ea typeface="Open Sans"/>
                <a:cs typeface="Open Sans"/>
                <a:sym typeface="Open Sans"/>
              </a:rPr>
              <a:t>Automated testing</a:t>
            </a:r>
          </a:p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F4F7FA"/>
                </a:solidFill>
                <a:latin typeface="Open Sans"/>
                <a:ea typeface="Open Sans"/>
                <a:cs typeface="Open Sans"/>
                <a:sym typeface="Open Sans"/>
              </a:rPr>
              <a:t>Richer Linux integrations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400" y="8029575"/>
            <a:ext cx="8572500" cy="741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5400" b="1">
                <a:solidFill>
                  <a:srgbClr val="57E38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4400" y="8829675"/>
            <a:ext cx="8572500" cy="340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4F7FA"/>
                </a:solidFill>
                <a:latin typeface="Open Sans"/>
                <a:ea typeface="Open Sans"/>
                <a:cs typeface="Open Sans"/>
                <a:sym typeface="Open Sans"/>
              </a:rPr>
              <a:t>Questions &amp; Discussion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4400" y="9791700"/>
            <a:ext cx="164592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74"/>
              </a:lnSpc>
            </a:pPr>
            <a:r>
              <a:rPr lang="en-US" sz="1125" b="1" spc="89">
                <a:solidFill>
                  <a:srgbClr val="9BACB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INTERACTIVE PROCESS MANAGEMENT SYSTEM     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2221</Words>
  <Application>Microsoft Office PowerPoint</Application>
  <PresentationFormat>Custom</PresentationFormat>
  <Paragraphs>361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Calibri</vt:lpstr>
      <vt:lpstr>IBM Plex Mono Bold</vt:lpstr>
      <vt:lpstr>Montserrat Bold</vt:lpstr>
      <vt:lpstr>Arial</vt:lpstr>
      <vt:lpstr>Aptos</vt:lpstr>
      <vt:lpstr>IBM Plex Mono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 Management System</dc:title>
  <cp:lastModifiedBy>Aarnav Reddy</cp:lastModifiedBy>
  <cp:revision>2</cp:revision>
  <dcterms:created xsi:type="dcterms:W3CDTF">2006-08-16T00:00:00Z</dcterms:created>
  <dcterms:modified xsi:type="dcterms:W3CDTF">2026-10-08T07:45:12Z</dcterms:modified>
  <dc:identifier>DAHXZAj8Xac</dc:identifier>
</cp:coreProperties>
</file>